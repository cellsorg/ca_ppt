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표지. 한 문장(타이틀) + 서브 1줄 + 팀/날짜. Cloud Alpacas 로고·마스코트 자산을 우측 박스에 배치. 발표자: 오늘 이야기는 '팬을 이해해 매출로 바꾸는 시스템'입니다.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하나의 큰 질문으로 시작. 두 그래프의 '엇갈림'이 핵심 — 실제 수치가 없으면 방향(↑ / ↔·↓)만. 임의 성장률·매출 수치 만들지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Pain Point는 정확히 3개. 큰 숫자 + 강한 headline + 짧은 subline. 긴 설명은 발표자가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자동화를 '기술 기능'이 아니라 '업무 방식의 변화'로 설명. 발표자: 사람이 모든 단계를 손으로 잇던 일을 플랫폼이 잇고, 사람은 판단·실행만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B2C와 B2B가 별개 프로젝트가 아니라 Fan Insight로 이어진 하나의 흐름임을 보여준다. 팀은 1줄로.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목차. 'Business Opportunity'라는 말은 쓰지 않는다 — Partner Matching. Fan Insight가 B2C의 마지막이자 B2B의 출발점.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경기장 전광판처럼. QR destination이 확정 안 됐으면 'QR PLACEHOLDER' 유지 — 가짜 QR을 실제처럼 표현하지 않는다. Cloud Alpacas 알파카 마스코트를 이벤트 안내 그래픽으로 활용 가능. 발표자: 지금 여러분은 경기장 관객입니다. 전광판에 이벤트가 떴습니다. QR을 찍어보세요. → 이 참여가 곧 CRM 데이터가 됩니다. (04_DEMO Scene 1 = 'PPT + 관객 참여')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발표자: 티켓·굿즈·멤버십·참여가 흩어져 있던 데이터를 한 팬의 프로필·타임라인으로. 실제 Fan 360 / Fan Profile 화면 캡처. (04_DEMO Scene 2 앞부분)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영상 재생 영역이 화면의 중심. 발표자: 팬별 특성을 담당자가 일일이 쓰기 어려웠다 — AI가 생성하고 담당자가 검토·승인 후 발송(Human-in-the-loop). (04_DEMO 데모 영상 ①)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전체의 turning point. 여기서 색·발표 톤이 파랑(B2C)→초록(B2B)으로 전환. Fan Insight는 B2B 안이 아니라 B2C의 마지막 단계. 발표자: 팬의 관심사가 곧 어떤 기업을 찾을지의 근거가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현장 시연. 발표자: B2C에서 쌓인 팬 데이터를 B2B 담당자가 직접 다시 해석해야 했다 — 이제 월간 Fan Insight Letter와 Slack Agent가 방향을 좁혀준다. 김매니저 → 이매니저 handoff. (04_DEMO Scene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'd'Alba는 팬덤과 높은 적합도를 보여 후보가 됐습니다' — AI는 정답이 아니라 '왜 이 기업인가'를 설명. Fan Fit / Segment Match(팬덤 적합도) ≠ Lead Score(계약 가능성). 기업 데이터 = OpenDART API. ※ Demo순서 이미지에 S4 열이 없어 재구성 — 포함 여부·표현 방식 팀 확정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위에 약 5초 임베드 영상. 발표자: 유망 Sponsor 판단부터 Account 정보 보완까지 수작업이 많았다 — 우선순위는 Lead Score, 빈 정보는 AI가 DART로 채운다. (04_DEMO Scene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영상 재생 영역이 화면의 중심. 발표자: 미팅·대화가 단순 기록으로 남아 다시 읽고 해석해야 했다 — 이제 대화가 요약·Signal(긍정/위험)로 정리된다. Zoom 연동 · Interaction Intelligence. (04_DEMO Scene 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현장 시연. 발표자: 담당자가 컨텍스트를 직접 모아 판단해야 했다 — Agent가 근거와 함께 제안 방향을 제시. 조회·추천은 즉시, 쓰기는 담당자 승인 후. (04_DEMO Scene 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발표자: 고객 반응 변화마다 다시 분석해야 했다 — AI가 변화를 먼저 감지해 수정안을 근거와 함께 제시. 최종 결정·승인은 담당자. ⚠️ 구체 금액은 발표 전 하나로 통일 (04_DEMO 가격 검증). (04_DEMO Scene 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Demo순서 이미지: 표현 방식·AI 역할·기능 모두 미정. 재계약·장기 Partnership 자동화는 문서상 Future Scope — 구현 확인된 부분만 시연. 발표자: '첫 계약은 매출엔진의 끝이 아니라 시작' — 단, 여기부터는 방향 제시. (04_DEMO Scene 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4개 기술 나열이 아니라 설계 원칙 3개. 각 원칙은 Headline + 1줄. 구현 수치는 발표자가 필요할 때만 언급. '왜 이렇게 설계했는가'를 설명하는 페이지.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기존 Automation 페이지 중심. 단계별 1줄 역할. 긴 설명 금지. 발표자: Flow가 반복을 처리하고 사람은 판단·실행에 집중한다.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We Built + Business Value 통합. 한 페이지에서 FAN→INSIGHT→REVENUE가 한눈에. 미측정 KPI·ROI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발표의 마지막 슬라이드. FUTURE는 현재 구현처럼 보이지 않게(점선·흐리게). 별도 Closing/당첨자 슬라이드 없음 — 이후 발표자가 '오늘 참여해주신 분들 중…' 하며 LIVE 당첨자 발표 → Q&amp;A로 전환.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74980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 spc="280">
                <a:solidFill>
                  <a:srgbClr val="E77C25"/>
                </a:solidFill>
                <a:latin typeface="Pretendard SemiBold"/>
                <a:ea typeface="Pretendard SemiBold"/>
                <a:cs typeface="Pretendard SemiBold"/>
              </a:rPr>
              <a:t>CLOUD ALPACAS   ·   SALESFORCE CUSTOMER 360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3172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5200" b="0" i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외부 환경에 흔들리지 않는</a:t>
            </a:r>
          </a:p>
          <a:p>
            <a:pPr algn="l">
              <a:lnSpc>
                <a:spcPct val="116000"/>
              </a:lnSpc>
            </a:pPr>
            <a:r>
              <a:rPr sz="5200" b="0" i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지속 가능한 매출 엔진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4956048"/>
            <a:ext cx="4206240" cy="0"/>
          </a:xfrm>
          <a:prstGeom prst="line">
            <a:avLst/>
          </a:prstGeom>
          <a:ln w="12700">
            <a:solidFill>
              <a:srgbClr val="3146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517550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 i="0" spc="60">
                <a:solidFill>
                  <a:srgbClr val="AEBECE"/>
                </a:solidFill>
                <a:latin typeface="Pretendard Medium"/>
                <a:ea typeface="Pretendard Medium"/>
                <a:cs typeface="Pretendard Medium"/>
              </a:rPr>
              <a:t>Fan 360      Fan Insight      Partner Matching      Sponsorship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7278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 spc="40">
                <a:solidFill>
                  <a:srgbClr val="6E8093"/>
                </a:solidFill>
                <a:latin typeface="Pretendard"/>
                <a:ea typeface="Pretendard"/>
                <a:cs typeface="Pretendard"/>
              </a:rPr>
              <a:t>Cellsforce · Fan Relationship Management Team        Final Presentation (Draft)</a:t>
            </a:r>
          </a:p>
        </p:txBody>
      </p:sp>
      <p:sp>
        <p:nvSpPr>
          <p:cNvPr id="9" name="Rectangle 8"/>
          <p:cNvSpPr/>
          <p:nvPr/>
        </p:nvSpPr>
        <p:spPr>
          <a:xfrm>
            <a:off x="9064447" y="2377440"/>
            <a:ext cx="2286000" cy="2011680"/>
          </a:xfrm>
          <a:prstGeom prst="rect">
            <a:avLst/>
          </a:prstGeom>
          <a:noFill/>
          <a:ln w="12700">
            <a:solidFill>
              <a:srgbClr val="31465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64447" y="2377440"/>
            <a:ext cx="228600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950" b="0" i="0" spc="200">
                <a:solidFill>
                  <a:srgbClr val="6E8093"/>
                </a:solidFill>
                <a:latin typeface="Pretendard SemiBold"/>
                <a:ea typeface="Pretendard SemiBold"/>
                <a:cs typeface="Pretendard SemiBold"/>
              </a:rPr>
              <a:t>ALPACA  +  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2356"/>
            <a:ext cx="100584" cy="100584"/>
          </a:xfrm>
          <a:prstGeom prst="rect">
            <a:avLst/>
          </a:prstGeom>
          <a:solidFill>
            <a:srgbClr val="0B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 spc="260">
                <a:solidFill>
                  <a:srgbClr val="0B2A47"/>
                </a:solidFill>
                <a:latin typeface="Pretendard SemiBold"/>
                <a:ea typeface="Pretendard SemiBold"/>
                <a:cs typeface="Pretendard SemiBold"/>
              </a:rPr>
              <a:t>CHAPTER I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133856"/>
            <a:ext cx="10509199" cy="2359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300" b="0" i="0">
                <a:solidFill>
                  <a:srgbClr val="0B2A47"/>
                </a:solidFill>
                <a:latin typeface="Pretendard Light"/>
                <a:ea typeface="Pretendard Light"/>
                <a:cs typeface="Pretendard Light"/>
              </a:rPr>
              <a:t>팬은 늘어나는데,</a:t>
            </a:r>
          </a:p>
          <a:p>
            <a:pPr algn="l">
              <a:lnSpc>
                <a:spcPct val="118000"/>
              </a:lnSpc>
            </a:pPr>
            <a:r>
              <a:rPr sz="3300" b="0" i="0">
                <a:solidFill>
                  <a:srgbClr val="0B2A47"/>
                </a:solidFill>
                <a:latin typeface="Pretendard Light"/>
                <a:ea typeface="Pretendard Light"/>
                <a:cs typeface="Pretendard Light"/>
              </a:rPr>
              <a:t>왜 구단의 매출은</a:t>
            </a:r>
          </a:p>
          <a:p>
            <a:pPr algn="l">
              <a:lnSpc>
                <a:spcPct val="118000"/>
              </a:lnSpc>
            </a:pPr>
            <a:r>
              <a:rPr sz="3300" b="0" i="0">
                <a:solidFill>
                  <a:srgbClr val="0B2A47"/>
                </a:solidFill>
                <a:latin typeface="Pretendard Light"/>
                <a:ea typeface="Pretendard Light"/>
                <a:cs typeface="Pretendard Light"/>
              </a:rPr>
              <a:t>함께 성장하지 않을까?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3218688"/>
            <a:ext cx="1050919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321247" y="5212080"/>
            <a:ext cx="4480560" cy="0"/>
          </a:xfrm>
          <a:prstGeom prst="line">
            <a:avLst/>
          </a:prstGeom>
          <a:ln w="11430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321247" y="53218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B7B4AD"/>
                </a:solidFill>
                <a:latin typeface="Pretendard"/>
                <a:ea typeface="Pretendard"/>
                <a:cs typeface="Pretendard"/>
              </a:rPr>
              <a:t>시간 →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412687" y="2880360"/>
            <a:ext cx="4297680" cy="2194560"/>
          </a:xfrm>
          <a:prstGeom prst="line">
            <a:avLst/>
          </a:prstGeom>
          <a:ln w="22225">
            <a:solidFill>
              <a:srgbClr val="0B2A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12687" y="3977639"/>
            <a:ext cx="4297680" cy="274321"/>
          </a:xfrm>
          <a:prstGeom prst="line">
            <a:avLst/>
          </a:prstGeom>
          <a:ln w="19050">
            <a:solidFill>
              <a:srgbClr val="B7B4A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90127" y="246888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0B2A47"/>
                </a:solidFill>
                <a:latin typeface="Pretendard SemiBold"/>
                <a:ea typeface="Pretendard SemiBold"/>
                <a:cs typeface="Pretendard SemiBold"/>
              </a:rPr>
              <a:t>팬 수  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0127" y="43159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8B8E93"/>
                </a:solidFill>
                <a:latin typeface="Pretendard SemiBold"/>
                <a:ea typeface="Pretendard SemiBold"/>
                <a:cs typeface="Pretendard SemiBold"/>
              </a:rPr>
              <a:t>구단 매출  ↔ 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80644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B85E12"/>
                </a:solidFill>
                <a:latin typeface="Pretendard SemiBold"/>
                <a:ea typeface="Pretendard SemiBold"/>
                <a:cs typeface="Pretendard SemiBold"/>
              </a:rPr>
              <a:t>팬 성장이 곧 구단의 지속 가능성은 아니다.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419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 spc="22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CLOUD ALPACAS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87407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0" i="0" spc="14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2356"/>
            <a:ext cx="100584" cy="100584"/>
          </a:xfrm>
          <a:prstGeom prst="rect">
            <a:avLst/>
          </a:prstGeom>
          <a:solidFill>
            <a:srgbClr val="0B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 spc="260">
                <a:solidFill>
                  <a:srgbClr val="0B2A47"/>
                </a:solidFill>
                <a:latin typeface="Pretendard SemiBold"/>
                <a:ea typeface="Pretendard SemiBold"/>
                <a:cs typeface="Pretendard SemiBold"/>
              </a:rPr>
              <a:t>CHAPTER I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98448"/>
            <a:ext cx="10509199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300" b="0" i="0">
                <a:solidFill>
                  <a:srgbClr val="0B2A47"/>
                </a:solidFill>
                <a:latin typeface="Pretendard Medium"/>
                <a:ea typeface="Pretendard Medium"/>
                <a:cs typeface="Pretendard Medium"/>
              </a:rPr>
              <a:t>Salesforce 도입 전, 세 가지 문제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2176272"/>
            <a:ext cx="1050919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2651760"/>
            <a:ext cx="10972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0" i="0">
                <a:solidFill>
                  <a:srgbClr val="B7B4AD"/>
                </a:solidFill>
                <a:latin typeface="Pretendard Light"/>
                <a:ea typeface="Pretendard Light"/>
                <a:cs typeface="Pretendard Ligh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5728" y="2615184"/>
            <a:ext cx="89547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900" b="0" i="0">
                <a:solidFill>
                  <a:srgbClr val="0B2A47"/>
                </a:solidFill>
                <a:latin typeface="Pretendard Medium"/>
                <a:ea typeface="Pretendard Medium"/>
                <a:cs typeface="Pretendard Medium"/>
              </a:rPr>
              <a:t>팬 데이터가 흩어져 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3163824"/>
            <a:ext cx="89547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팬의 전체 여정을 하나로 볼 수 없다.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" y="3703320"/>
            <a:ext cx="1050919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1248" y="3794759"/>
            <a:ext cx="10972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0" i="0">
                <a:solidFill>
                  <a:srgbClr val="B7B4AD"/>
                </a:solidFill>
                <a:latin typeface="Pretendard Light"/>
                <a:ea typeface="Pretendard Light"/>
                <a:cs typeface="Pretendard Ligh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3758183"/>
            <a:ext cx="89547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900" b="0" i="0">
                <a:solidFill>
                  <a:srgbClr val="0B2A47"/>
                </a:solidFill>
                <a:latin typeface="Pretendard Medium"/>
                <a:ea typeface="Pretendard Medium"/>
                <a:cs typeface="Pretendard Medium"/>
              </a:rPr>
              <a:t>데이터는 많지만 ACTION이 없다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4306824"/>
            <a:ext cx="89547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팬을 이해해도 다음 행동으로 이어지지 않는다.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4846320"/>
            <a:ext cx="1050919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4937759"/>
            <a:ext cx="10972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0" i="0">
                <a:solidFill>
                  <a:srgbClr val="B7B4AD"/>
                </a:solidFill>
                <a:latin typeface="Pretendard Light"/>
                <a:ea typeface="Pretendard Light"/>
                <a:cs typeface="Pretendard Ligh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4901183"/>
            <a:ext cx="89547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900" b="0" i="0">
                <a:solidFill>
                  <a:srgbClr val="0B2A47"/>
                </a:solidFill>
                <a:latin typeface="Pretendard Medium"/>
                <a:ea typeface="Pretendard Medium"/>
                <a:cs typeface="Pretendard Medium"/>
              </a:rPr>
              <a:t>팬덤의 가치를 기업의 기회로 연결할 수 없다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5449824"/>
            <a:ext cx="89547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어떤 기업이 우리 팬덤과 맞는지 판단할 근거가 없다.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419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 spc="22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CLOUD ALPACAS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87407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0" i="0" spc="14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2356"/>
            <a:ext cx="100584" cy="100584"/>
          </a:xfrm>
          <a:prstGeom prst="rect">
            <a:avLst/>
          </a:prstGeom>
          <a:solidFill>
            <a:srgbClr val="0B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 spc="260">
                <a:solidFill>
                  <a:srgbClr val="0B2A47"/>
                </a:solidFill>
                <a:latin typeface="Pretendard SemiBold"/>
                <a:ea typeface="Pretendard SemiBold"/>
                <a:cs typeface="Pretendard SemiBold"/>
              </a:rPr>
              <a:t>CHAPTER I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98448"/>
            <a:ext cx="10509199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0B2A47"/>
                </a:solidFill>
                <a:latin typeface="Pretendard Light"/>
                <a:ea typeface="Pretendard Light"/>
                <a:cs typeface="Pretendard Light"/>
              </a:rPr>
              <a:t>반복은 자동화하고,</a:t>
            </a:r>
          </a:p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0B2A47"/>
                </a:solidFill>
                <a:latin typeface="Pretendard Light"/>
                <a:ea typeface="Pretendard Light"/>
                <a:cs typeface="Pretendard Light"/>
              </a:rPr>
              <a:t>사람은 판단과 실행에 집중한다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2779776"/>
            <a:ext cx="1050919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32688" y="3794760"/>
            <a:ext cx="10326319" cy="0"/>
          </a:xfrm>
          <a:prstGeom prst="line">
            <a:avLst/>
          </a:prstGeom>
          <a:ln w="11430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59536" y="3721608"/>
            <a:ext cx="146304" cy="146304"/>
          </a:xfrm>
          <a:prstGeom prst="ellipse">
            <a:avLst/>
          </a:prstGeom>
          <a:solidFill>
            <a:srgbClr val="FBFAF8"/>
          </a:solidFill>
          <a:ln w="15240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229022" y="3191256"/>
            <a:ext cx="2323421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Fan 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29022" y="3959352"/>
            <a:ext cx="232342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데이터 발생</a:t>
            </a:r>
          </a:p>
        </p:txBody>
      </p:sp>
      <p:sp>
        <p:nvSpPr>
          <p:cNvPr id="11" name="Oval 10"/>
          <p:cNvSpPr/>
          <p:nvPr/>
        </p:nvSpPr>
        <p:spPr>
          <a:xfrm>
            <a:off x="3441115" y="3721608"/>
            <a:ext cx="146304" cy="146304"/>
          </a:xfrm>
          <a:prstGeom prst="ellipse">
            <a:avLst/>
          </a:prstGeom>
          <a:solidFill>
            <a:srgbClr val="FBFAF8"/>
          </a:solidFill>
          <a:ln w="15240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23477" y="3191256"/>
            <a:ext cx="2581579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3477" y="3959352"/>
            <a:ext cx="25815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반복 자동화</a:t>
            </a:r>
          </a:p>
        </p:txBody>
      </p:sp>
      <p:sp>
        <p:nvSpPr>
          <p:cNvPr id="14" name="Oval 13"/>
          <p:cNvSpPr/>
          <p:nvPr/>
        </p:nvSpPr>
        <p:spPr>
          <a:xfrm>
            <a:off x="6022695" y="3721608"/>
            <a:ext cx="146304" cy="146304"/>
          </a:xfrm>
          <a:prstGeom prst="ellipse">
            <a:avLst/>
          </a:prstGeom>
          <a:solidFill>
            <a:srgbClr val="FBFAF8"/>
          </a:solidFill>
          <a:ln w="15240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057" y="3191256"/>
            <a:ext cx="2581579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057" y="3959352"/>
            <a:ext cx="25815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다음 행동 제안</a:t>
            </a:r>
          </a:p>
        </p:txBody>
      </p:sp>
      <p:sp>
        <p:nvSpPr>
          <p:cNvPr id="17" name="Oval 16"/>
          <p:cNvSpPr/>
          <p:nvPr/>
        </p:nvSpPr>
        <p:spPr>
          <a:xfrm>
            <a:off x="8604275" y="3721608"/>
            <a:ext cx="146304" cy="146304"/>
          </a:xfrm>
          <a:prstGeom prst="ellipse">
            <a:avLst/>
          </a:prstGeom>
          <a:solidFill>
            <a:srgbClr val="FBFAF8"/>
          </a:solidFill>
          <a:ln w="15240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86637" y="3191256"/>
            <a:ext cx="2581579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Slack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6637" y="3959352"/>
            <a:ext cx="25815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담당자 전달</a:t>
            </a:r>
          </a:p>
        </p:txBody>
      </p:sp>
      <p:sp>
        <p:nvSpPr>
          <p:cNvPr id="20" name="Oval 19"/>
          <p:cNvSpPr/>
          <p:nvPr/>
        </p:nvSpPr>
        <p:spPr>
          <a:xfrm>
            <a:off x="11185855" y="3721608"/>
            <a:ext cx="146304" cy="146304"/>
          </a:xfrm>
          <a:prstGeom prst="ellipse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97296" y="3191256"/>
            <a:ext cx="2323421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 i="0">
                <a:solidFill>
                  <a:srgbClr val="E77C25"/>
                </a:solidFill>
                <a:latin typeface="Pretendard SemiBold"/>
                <a:ea typeface="Pretendard SemiBold"/>
                <a:cs typeface="Pretendard SemiBold"/>
              </a:rPr>
              <a:t>Manager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7296" y="3959352"/>
            <a:ext cx="232342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사람이 판단·실행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526280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950" b="0" i="0">
                <a:solidFill>
                  <a:srgbClr val="B7B4AD"/>
                </a:solidFill>
                <a:latin typeface="Pretendard"/>
                <a:ea typeface="Pretendard"/>
                <a:cs typeface="Pretendard"/>
              </a:rPr>
              <a:t>각 단계를  Salesforce · Customer 360 · Flow · Agentforce · Slack  이 잇는다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5257800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700" b="0" i="0" spc="120">
                <a:solidFill>
                  <a:srgbClr val="20272F"/>
                </a:solidFill>
                <a:latin typeface="Pretendard SemiBold"/>
                <a:ea typeface="Pretendard SemiBold"/>
                <a:cs typeface="Pretendard SemiBold"/>
              </a:rPr>
              <a:t>DATA</a:t>
            </a:r>
            <a:r>
              <a:rPr sz="1700" b="0" i="0" spc="120">
                <a:solidFill>
                  <a:srgbClr val="B7B4AD"/>
                </a:solidFill>
                <a:latin typeface="Pretendard"/>
                <a:ea typeface="Pretendard"/>
                <a:cs typeface="Pretendard"/>
              </a:rPr>
              <a:t>      →      </a:t>
            </a:r>
            <a:r>
              <a:rPr sz="1700" b="0" i="0" spc="120">
                <a:solidFill>
                  <a:srgbClr val="20272F"/>
                </a:solidFill>
                <a:latin typeface="Pretendard SemiBold"/>
                <a:ea typeface="Pretendard SemiBold"/>
                <a:cs typeface="Pretendard SemiBold"/>
              </a:rPr>
              <a:t>INSIGHT</a:t>
            </a:r>
            <a:r>
              <a:rPr sz="1700" b="0" i="0" spc="120">
                <a:solidFill>
                  <a:srgbClr val="B7B4AD"/>
                </a:solidFill>
                <a:latin typeface="Pretendard"/>
                <a:ea typeface="Pretendard"/>
                <a:cs typeface="Pretendard"/>
              </a:rPr>
              <a:t>      →      </a:t>
            </a:r>
            <a:r>
              <a:rPr sz="1700" b="0" i="0" spc="120">
                <a:solidFill>
                  <a:srgbClr val="20272F"/>
                </a:solidFill>
                <a:latin typeface="Pretendard SemiBold"/>
                <a:ea typeface="Pretendard SemiBold"/>
                <a:cs typeface="Pretendard SemiBold"/>
              </a:rPr>
              <a:t>ACTION</a:t>
            </a:r>
            <a:r>
              <a:rPr sz="1700" b="0" i="0" spc="120">
                <a:solidFill>
                  <a:srgbClr val="B7B4AD"/>
                </a:solidFill>
                <a:latin typeface="Pretendard"/>
                <a:ea typeface="Pretendard"/>
                <a:cs typeface="Pretendard"/>
              </a:rPr>
              <a:t>      →      </a:t>
            </a:r>
            <a:r>
              <a:rPr sz="1700" b="0" i="0" spc="120">
                <a:solidFill>
                  <a:srgbClr val="E77C25"/>
                </a:solidFill>
                <a:latin typeface="Pretendard SemiBold"/>
                <a:ea typeface="Pretendard SemiBold"/>
                <a:cs typeface="Pretendard SemiBold"/>
              </a:rPr>
              <a:t>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6419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 spc="22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CLOUD ALPACAS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87407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0" i="0" spc="14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2356"/>
            <a:ext cx="100584" cy="100584"/>
          </a:xfrm>
          <a:prstGeom prst="rect">
            <a:avLst/>
          </a:prstGeom>
          <a:solidFill>
            <a:srgbClr val="0B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 spc="260">
                <a:solidFill>
                  <a:srgbClr val="0B2A47"/>
                </a:solidFill>
                <a:latin typeface="Pretendard SemiBold"/>
                <a:ea typeface="Pretendard SemiBold"/>
                <a:cs typeface="Pretendard SemiBold"/>
              </a:rPr>
              <a:t>CHAPTER I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98448"/>
            <a:ext cx="10509199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0B2A47"/>
                </a:solidFill>
                <a:latin typeface="Pretendard Light"/>
                <a:ea typeface="Pretendard Light"/>
                <a:cs typeface="Pretendard Light"/>
              </a:rPr>
              <a:t>B2C에서 시작해 B2B로 이어지는</a:t>
            </a:r>
          </a:p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0B2A47"/>
                </a:solidFill>
                <a:latin typeface="Pretendard Light"/>
                <a:ea typeface="Pretendard Light"/>
                <a:cs typeface="Pretendard Light"/>
              </a:rPr>
              <a:t>하나의 프로젝트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2779776"/>
            <a:ext cx="1050919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212848" y="3657600"/>
            <a:ext cx="7765999" cy="0"/>
          </a:xfrm>
          <a:prstGeom prst="line">
            <a:avLst/>
          </a:prstGeom>
          <a:ln w="11430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139696" y="3584448"/>
            <a:ext cx="146304" cy="146304"/>
          </a:xfrm>
          <a:prstGeom prst="ellipse">
            <a:avLst/>
          </a:prstGeom>
          <a:solidFill>
            <a:srgbClr val="FBFAF8"/>
          </a:solidFill>
          <a:ln w="15240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98" y="3054096"/>
            <a:ext cx="3494699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B2C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98" y="3822191"/>
            <a:ext cx="34946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Fan Relationship</a:t>
            </a:r>
          </a:p>
        </p:txBody>
      </p:sp>
      <p:sp>
        <p:nvSpPr>
          <p:cNvPr id="11" name="Oval 10"/>
          <p:cNvSpPr/>
          <p:nvPr/>
        </p:nvSpPr>
        <p:spPr>
          <a:xfrm>
            <a:off x="6022695" y="3584448"/>
            <a:ext cx="146304" cy="146304"/>
          </a:xfrm>
          <a:prstGeom prst="ellipse">
            <a:avLst/>
          </a:prstGeom>
          <a:solidFill>
            <a:srgbClr val="FBFAF8"/>
          </a:solidFill>
          <a:ln w="15240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54347" y="3054096"/>
            <a:ext cx="3882999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Fan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54347" y="3822191"/>
            <a:ext cx="38829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연결점 · Bridge</a:t>
            </a:r>
          </a:p>
        </p:txBody>
      </p:sp>
      <p:sp>
        <p:nvSpPr>
          <p:cNvPr id="14" name="Oval 13"/>
          <p:cNvSpPr/>
          <p:nvPr/>
        </p:nvSpPr>
        <p:spPr>
          <a:xfrm>
            <a:off x="9905695" y="3584448"/>
            <a:ext cx="146304" cy="146304"/>
          </a:xfrm>
          <a:prstGeom prst="ellipse">
            <a:avLst/>
          </a:prstGeom>
          <a:solidFill>
            <a:srgbClr val="FBFAF8"/>
          </a:solidFill>
          <a:ln w="15240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1497" y="3054096"/>
            <a:ext cx="3494699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B2B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1497" y="3822191"/>
            <a:ext cx="34946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Sponsorship 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5687" y="3054096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20272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892040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00" b="0" i="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사라 Fan 360 / Insight    ·    승우 Product · Quote · Campaign    ·    은영 Opportunity    ·    혜준 Lead    ·    아론 Account · Contact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62356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200" b="0" i="0">
                <a:solidFill>
                  <a:srgbClr val="B7B4AD"/>
                </a:solidFill>
                <a:latin typeface="Pretendard"/>
                <a:ea typeface="Pretendard"/>
                <a:cs typeface="Pretendard"/>
              </a:rPr>
              <a:t>각자 자기 구간을 하나의 작은 Salesforce 프로젝트처럼 책임 — 하나의 시나리오로 연결.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6419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 spc="22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CLOUD ALPACAS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87407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0" i="0" spc="14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2356"/>
            <a:ext cx="100584" cy="100584"/>
          </a:xfrm>
          <a:prstGeom prst="rect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 spc="260">
                <a:solidFill>
                  <a:srgbClr val="E77C25"/>
                </a:solidFill>
                <a:latin typeface="Pretendard SemiBold"/>
                <a:ea typeface="Pretendard SemiBold"/>
                <a:cs typeface="Pretendard SemiBold"/>
              </a:rPr>
              <a:t>CHAPTER II · DEMO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98448"/>
            <a:ext cx="10509199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 i="0">
                <a:solidFill>
                  <a:srgbClr val="0B2A47"/>
                </a:solidFill>
                <a:latin typeface="Pretendard Medium"/>
                <a:ea typeface="Pretendard Medium"/>
                <a:cs typeface="Pretendard Medium"/>
              </a:rPr>
              <a:t>From Fan Action to Sponsorship Revenue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2176272"/>
            <a:ext cx="1050919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2322576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지금부터 보실 Demo의 전체 지도 — 10초 안에.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32688" y="3977639"/>
            <a:ext cx="10326319" cy="0"/>
          </a:xfrm>
          <a:prstGeom prst="line">
            <a:avLst/>
          </a:prstGeom>
          <a:ln w="11430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59536" y="3904487"/>
            <a:ext cx="146304" cy="146304"/>
          </a:xfrm>
          <a:prstGeom prst="ellipse">
            <a:avLst/>
          </a:prstGeom>
          <a:solidFill>
            <a:srgbClr val="FBFAF8"/>
          </a:solidFill>
          <a:ln w="15240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8853" y="3374135"/>
            <a:ext cx="1327669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Fan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53" y="4142231"/>
            <a:ext cx="132766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QR 참여</a:t>
            </a:r>
          </a:p>
        </p:txBody>
      </p:sp>
      <p:sp>
        <p:nvSpPr>
          <p:cNvPr id="12" name="Oval 11"/>
          <p:cNvSpPr/>
          <p:nvPr/>
        </p:nvSpPr>
        <p:spPr>
          <a:xfrm>
            <a:off x="2334724" y="3904487"/>
            <a:ext cx="146304" cy="146304"/>
          </a:xfrm>
          <a:prstGeom prst="ellipse">
            <a:avLst/>
          </a:prstGeom>
          <a:solidFill>
            <a:srgbClr val="FBFAF8"/>
          </a:solidFill>
          <a:ln w="15240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70282" y="3374135"/>
            <a:ext cx="1475188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Fan 360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0282" y="4142231"/>
            <a:ext cx="14751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팬 상태</a:t>
            </a:r>
          </a:p>
        </p:txBody>
      </p:sp>
      <p:sp>
        <p:nvSpPr>
          <p:cNvPr id="15" name="Oval 14"/>
          <p:cNvSpPr/>
          <p:nvPr/>
        </p:nvSpPr>
        <p:spPr>
          <a:xfrm>
            <a:off x="3809912" y="3904487"/>
            <a:ext cx="146304" cy="146304"/>
          </a:xfrm>
          <a:prstGeom prst="ellipse">
            <a:avLst/>
          </a:prstGeom>
          <a:solidFill>
            <a:srgbClr val="FBFAF8"/>
          </a:solidFill>
          <a:ln w="15240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45470" y="3374135"/>
            <a:ext cx="1475188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Fan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470" y="4142231"/>
            <a:ext cx="14751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기회 발견</a:t>
            </a:r>
          </a:p>
        </p:txBody>
      </p:sp>
      <p:sp>
        <p:nvSpPr>
          <p:cNvPr id="18" name="Oval 17"/>
          <p:cNvSpPr/>
          <p:nvPr/>
        </p:nvSpPr>
        <p:spPr>
          <a:xfrm>
            <a:off x="5285101" y="3904487"/>
            <a:ext cx="146304" cy="146304"/>
          </a:xfrm>
          <a:prstGeom prst="ellipse">
            <a:avLst/>
          </a:prstGeom>
          <a:solidFill>
            <a:srgbClr val="FBFAF8"/>
          </a:solidFill>
          <a:ln w="15240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0659" y="3374135"/>
            <a:ext cx="1475188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Partner 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0659" y="4142231"/>
            <a:ext cx="14751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기업 매칭</a:t>
            </a:r>
          </a:p>
        </p:txBody>
      </p:sp>
      <p:sp>
        <p:nvSpPr>
          <p:cNvPr id="21" name="Oval 20"/>
          <p:cNvSpPr/>
          <p:nvPr/>
        </p:nvSpPr>
        <p:spPr>
          <a:xfrm>
            <a:off x="6760289" y="3904487"/>
            <a:ext cx="146304" cy="146304"/>
          </a:xfrm>
          <a:prstGeom prst="ellipse">
            <a:avLst/>
          </a:prstGeom>
          <a:solidFill>
            <a:srgbClr val="FBFAF8"/>
          </a:solidFill>
          <a:ln w="15240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5847" y="3374135"/>
            <a:ext cx="1475188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5847" y="4142231"/>
            <a:ext cx="14751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영업 대상</a:t>
            </a:r>
          </a:p>
        </p:txBody>
      </p:sp>
      <p:sp>
        <p:nvSpPr>
          <p:cNvPr id="24" name="Oval 23"/>
          <p:cNvSpPr/>
          <p:nvPr/>
        </p:nvSpPr>
        <p:spPr>
          <a:xfrm>
            <a:off x="8235478" y="3904487"/>
            <a:ext cx="146304" cy="146304"/>
          </a:xfrm>
          <a:prstGeom prst="ellipse">
            <a:avLst/>
          </a:prstGeom>
          <a:solidFill>
            <a:srgbClr val="FBFAF8"/>
          </a:solidFill>
          <a:ln w="15240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71036" y="3374135"/>
            <a:ext cx="1475188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Opportunity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1036" y="4142231"/>
            <a:ext cx="14751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딜</a:t>
            </a:r>
          </a:p>
        </p:txBody>
      </p:sp>
      <p:sp>
        <p:nvSpPr>
          <p:cNvPr id="27" name="Oval 26"/>
          <p:cNvSpPr/>
          <p:nvPr/>
        </p:nvSpPr>
        <p:spPr>
          <a:xfrm>
            <a:off x="9710666" y="3904487"/>
            <a:ext cx="146304" cy="146304"/>
          </a:xfrm>
          <a:prstGeom prst="ellipse">
            <a:avLst/>
          </a:prstGeom>
          <a:solidFill>
            <a:srgbClr val="FBFAF8"/>
          </a:solidFill>
          <a:ln w="15240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46224" y="3374135"/>
            <a:ext cx="1475188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AI Sales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6224" y="4142231"/>
            <a:ext cx="14751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가속</a:t>
            </a:r>
          </a:p>
        </p:txBody>
      </p:sp>
      <p:sp>
        <p:nvSpPr>
          <p:cNvPr id="30" name="Oval 29"/>
          <p:cNvSpPr/>
          <p:nvPr/>
        </p:nvSpPr>
        <p:spPr>
          <a:xfrm>
            <a:off x="11185855" y="3904487"/>
            <a:ext cx="146304" cy="146304"/>
          </a:xfrm>
          <a:prstGeom prst="ellipse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95172" y="3374135"/>
            <a:ext cx="1327669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 i="0">
                <a:solidFill>
                  <a:srgbClr val="E77C25"/>
                </a:solidFill>
                <a:latin typeface="Pretendard SemiBold"/>
                <a:ea typeface="Pretendard SemiBold"/>
                <a:cs typeface="Pretendard SemiBold"/>
              </a:rPr>
              <a:t>Closed Won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95172" y="4142231"/>
            <a:ext cx="132766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매출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489204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100" b="0" i="0" spc="8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B2C 3단계   →   Fan Insight 연결점   →   B2B 5단계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6419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 spc="22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CLOUD ALPACAS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87407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0" i="0" spc="14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06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 spc="300">
                <a:solidFill>
                  <a:srgbClr val="E77C25"/>
                </a:solidFill>
                <a:latin typeface="Pretendard SemiBold"/>
                <a:ea typeface="Pretendard SemiBold"/>
                <a:cs typeface="Pretendard SemiBold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09967" y="475488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 spc="240">
                <a:solidFill>
                  <a:srgbClr val="9DB0C4"/>
                </a:solidFill>
                <a:latin typeface="Pretendard SemiBold"/>
                <a:ea typeface="Pretendard SemiBold"/>
                <a:cs typeface="Pretendard SemiBold"/>
              </a:rPr>
              <a:t>관객 참여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4600" b="0" i="0" spc="1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GAME DAY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084831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 i="0" spc="80">
                <a:solidFill>
                  <a:srgbClr val="9DB0C4"/>
                </a:solidFill>
                <a:latin typeface="Pretendard Medium"/>
                <a:ea typeface="Pretendard Medium"/>
                <a:cs typeface="Pretendard Medium"/>
              </a:rPr>
              <a:t>7회말  ·  경기 진행 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" y="2788920"/>
            <a:ext cx="10509199" cy="0"/>
          </a:xfrm>
          <a:prstGeom prst="line">
            <a:avLst/>
          </a:prstGeom>
          <a:ln w="12700">
            <a:solidFill>
              <a:srgbClr val="3146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3127248"/>
            <a:ext cx="74002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0" i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오늘의 FAN EVENT</a:t>
            </a:r>
          </a:p>
          <a:p>
            <a:pPr algn="l">
              <a:lnSpc>
                <a:spcPct val="125000"/>
              </a:lnSpc>
            </a:pPr>
            <a:r>
              <a:rPr sz="2700" b="0" i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문태양 선수 퀴즈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90288"/>
            <a:ext cx="7400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FFCF9E"/>
                </a:solidFill>
                <a:latin typeface="Pretendard Medium"/>
                <a:ea typeface="Pretendard Medium"/>
                <a:cs typeface="Pretendard Medium"/>
              </a:rPr>
              <a:t>QR을 스캔하고 퀴즈에 참여하세요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1647" y="306324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21647" y="3063240"/>
            <a:ext cx="1828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8B8E93"/>
                </a:solidFill>
                <a:latin typeface="Pretendard SemiBold"/>
                <a:ea typeface="Pretendard SemiBold"/>
                <a:cs typeface="Pretendard SemiBold"/>
              </a:rPr>
              <a:t>QR</a:t>
            </a:r>
          </a:p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8B8E93"/>
                </a:solidFill>
                <a:latin typeface="Pretendard SemiBold"/>
                <a:ea typeface="Pretendard SemiBold"/>
                <a:cs typeface="Pretendard SemiBold"/>
              </a:rPr>
              <a:t>PLACEHOLDER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2688" y="5806440"/>
            <a:ext cx="10326319" cy="0"/>
          </a:xfrm>
          <a:prstGeom prst="line">
            <a:avLst/>
          </a:prstGeom>
          <a:ln w="11430">
            <a:solidFill>
              <a:srgbClr val="4356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59536" y="5733288"/>
            <a:ext cx="146304" cy="146304"/>
          </a:xfrm>
          <a:prstGeom prst="ellipse">
            <a:avLst/>
          </a:prstGeom>
          <a:solidFill>
            <a:srgbClr val="071B2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-229022" y="5202936"/>
            <a:ext cx="2323421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 i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관객 QR 참여</a:t>
            </a:r>
          </a:p>
        </p:txBody>
      </p:sp>
      <p:sp>
        <p:nvSpPr>
          <p:cNvPr id="15" name="Oval 14"/>
          <p:cNvSpPr/>
          <p:nvPr/>
        </p:nvSpPr>
        <p:spPr>
          <a:xfrm>
            <a:off x="3441115" y="5733288"/>
            <a:ext cx="146304" cy="146304"/>
          </a:xfrm>
          <a:prstGeom prst="ellipse">
            <a:avLst/>
          </a:prstGeom>
          <a:solidFill>
            <a:srgbClr val="071B2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23477" y="5202936"/>
            <a:ext cx="2581579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 i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Quiz Entry</a:t>
            </a:r>
          </a:p>
        </p:txBody>
      </p:sp>
      <p:sp>
        <p:nvSpPr>
          <p:cNvPr id="17" name="Oval 16"/>
          <p:cNvSpPr/>
          <p:nvPr/>
        </p:nvSpPr>
        <p:spPr>
          <a:xfrm>
            <a:off x="6022695" y="5733288"/>
            <a:ext cx="146304" cy="146304"/>
          </a:xfrm>
          <a:prstGeom prst="ellipse">
            <a:avLst/>
          </a:prstGeom>
          <a:solidFill>
            <a:srgbClr val="071B2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5057" y="5202936"/>
            <a:ext cx="2581579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 i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Fan Activity</a:t>
            </a:r>
          </a:p>
        </p:txBody>
      </p:sp>
      <p:sp>
        <p:nvSpPr>
          <p:cNvPr id="19" name="Oval 18"/>
          <p:cNvSpPr/>
          <p:nvPr/>
        </p:nvSpPr>
        <p:spPr>
          <a:xfrm>
            <a:off x="8604275" y="5733288"/>
            <a:ext cx="146304" cy="146304"/>
          </a:xfrm>
          <a:prstGeom prst="ellipse">
            <a:avLst/>
          </a:prstGeom>
          <a:solidFill>
            <a:srgbClr val="071B2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6637" y="5202936"/>
            <a:ext cx="2581579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 i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Salesforce</a:t>
            </a:r>
          </a:p>
        </p:txBody>
      </p:sp>
      <p:sp>
        <p:nvSpPr>
          <p:cNvPr id="21" name="Oval 20"/>
          <p:cNvSpPr/>
          <p:nvPr/>
        </p:nvSpPr>
        <p:spPr>
          <a:xfrm>
            <a:off x="11185855" y="5733288"/>
            <a:ext cx="146304" cy="146304"/>
          </a:xfrm>
          <a:prstGeom prst="ellipse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97296" y="5202936"/>
            <a:ext cx="2323421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 i="0">
                <a:solidFill>
                  <a:srgbClr val="E77C25"/>
                </a:solidFill>
                <a:latin typeface="Pretendard SemiBold"/>
                <a:ea typeface="Pretendard SemiBold"/>
                <a:cs typeface="Pretendard SemiBold"/>
              </a:rPr>
              <a:t>Fan 360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6419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 spc="220">
                <a:solidFill>
                  <a:srgbClr val="6E8093"/>
                </a:solidFill>
                <a:latin typeface="Pretendard SemiBold"/>
                <a:ea typeface="Pretendard SemiBold"/>
                <a:cs typeface="Pretendard SemiBold"/>
              </a:rPr>
              <a:t>CLOUD ALPACAS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87407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0" i="0" spc="140">
                <a:solidFill>
                  <a:srgbClr val="6E8093"/>
                </a:solidFill>
                <a:latin typeface="Pretendard SemiBold"/>
                <a:ea typeface="Pretendard SemiBold"/>
                <a:cs typeface="Pretendard SemiBold"/>
              </a:rP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2356"/>
            <a:ext cx="100584" cy="100584"/>
          </a:xfrm>
          <a:prstGeom prst="rect">
            <a:avLst/>
          </a:prstGeom>
          <a:solidFill>
            <a:srgbClr val="0B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 spc="260">
                <a:solidFill>
                  <a:srgbClr val="0B2A47"/>
                </a:solidFill>
                <a:latin typeface="Pretendard SemiBold"/>
                <a:ea typeface="Pretendard SemiBold"/>
                <a:cs typeface="Pretendard SemiBold"/>
              </a:rPr>
              <a:t>CHAPTER II · DEMO — B2C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09967" y="475488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 spc="240">
                <a:solidFill>
                  <a:srgbClr val="8B8E93"/>
                </a:solidFill>
                <a:latin typeface="Pretendard SemiBold"/>
                <a:ea typeface="Pretendard SemiBold"/>
                <a:cs typeface="Pretendard SemiBold"/>
              </a:rPr>
              <a:t>PPT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8229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김매니저 · FRM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188720"/>
            <a:ext cx="10509199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0" i="0">
                <a:solidFill>
                  <a:srgbClr val="0B2A47"/>
                </a:solidFill>
                <a:latin typeface="Pretendard Medium"/>
                <a:ea typeface="Pretendard Medium"/>
                <a:cs typeface="Pretendard Medium"/>
              </a:rPr>
              <a:t>우리 팬은 누구인가?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2066544"/>
            <a:ext cx="1050919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41248" y="2322576"/>
            <a:ext cx="10509199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3493007"/>
            <a:ext cx="977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00" b="0" i="0" spc="300">
                <a:solidFill>
                  <a:srgbClr val="8B8E93"/>
                </a:solidFill>
                <a:latin typeface="Pretendard SemiBold"/>
                <a:ea typeface="Pretendard SemiBold"/>
                <a:cs typeface="Pretendard SemiBold"/>
              </a:rPr>
              <a:t>SCREENSHOT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3895344"/>
            <a:ext cx="90461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Fan 360  →  Segment  →  Recommendation Hub 핵심 화면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92531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 spc="4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Fan 360 · Segment · Recommendation Hub        AI 팬 이해 지원        Value  Fan Understanding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419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 spc="22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CLOUD ALPACAS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87407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0" i="0" spc="14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2356"/>
            <a:ext cx="100584" cy="100584"/>
          </a:xfrm>
          <a:prstGeom prst="rect">
            <a:avLst/>
          </a:prstGeom>
          <a:solidFill>
            <a:srgbClr val="0B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 spc="260">
                <a:solidFill>
                  <a:srgbClr val="0B2A47"/>
                </a:solidFill>
                <a:latin typeface="Pretendard SemiBold"/>
                <a:ea typeface="Pretendard SemiBold"/>
                <a:cs typeface="Pretendard SemiBold"/>
              </a:rPr>
              <a:t>CHAPTER II · DEMO — B2C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09967" y="475488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 spc="240">
                <a:solidFill>
                  <a:srgbClr val="8B8E93"/>
                </a:solidFill>
                <a:latin typeface="Pretendard SemiBold"/>
                <a:ea typeface="Pretendard SemiBold"/>
                <a:cs typeface="Pretendard SemiBold"/>
              </a:rPr>
              <a:t>DEMO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8229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김매니저 · FRM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188720"/>
            <a:ext cx="10509199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0" i="0">
                <a:solidFill>
                  <a:srgbClr val="0B2A47"/>
                </a:solidFill>
                <a:latin typeface="Pretendard Medium"/>
                <a:ea typeface="Pretendard Medium"/>
                <a:cs typeface="Pretendard Medium"/>
              </a:rPr>
              <a:t>각 팬에게 어떻게 다르게 행동할까?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2066544"/>
            <a:ext cx="1050919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41248" y="2322576"/>
            <a:ext cx="10509199" cy="3474720"/>
          </a:xfrm>
          <a:prstGeom prst="rect">
            <a:avLst/>
          </a:prstGeom>
          <a:solidFill>
            <a:srgbClr val="14171B"/>
          </a:solidFill>
          <a:ln w="12700">
            <a:solidFill>
              <a:srgbClr val="2C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84951" y="3054096"/>
            <a:ext cx="621792" cy="621792"/>
          </a:xfrm>
          <a:prstGeom prst="ellipse">
            <a:avLst/>
          </a:prstGeom>
          <a:noFill/>
          <a:ln w="19050">
            <a:solidFill>
              <a:srgbClr val="C9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21527" y="3054096"/>
            <a:ext cx="65836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700" b="0" i="0">
                <a:solidFill>
                  <a:srgbClr val="C9CDD4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840479"/>
            <a:ext cx="977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950" b="0" i="0" spc="300">
                <a:solidFill>
                  <a:srgbClr val="8C929B"/>
                </a:solidFill>
                <a:latin typeface="Pretendard SemiBold"/>
                <a:ea typeface="Pretendard SemiBold"/>
                <a:cs typeface="Pretendard SemiBold"/>
              </a:rPr>
              <a:t>DEMO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4261104"/>
            <a:ext cx="90461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i="0">
                <a:solidFill>
                  <a:srgbClr val="E4E6EA"/>
                </a:solidFill>
                <a:latin typeface="Pretendard Medium"/>
                <a:ea typeface="Pretendard Medium"/>
                <a:cs typeface="Pretendard Medium"/>
              </a:rPr>
              <a:t>Target Fan 확인  →  AI 개인화 메시지 생성  →  Review  →  발송   (약 80–90초)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92531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 spc="4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AI Personalized Message        Value  Personalized Fan Engagement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6419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 spc="22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CLOUD ALPACAS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87407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0" i="0" spc="14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09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2356"/>
            <a:ext cx="100584" cy="100584"/>
          </a:xfrm>
          <a:prstGeom prst="rect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 spc="260">
                <a:solidFill>
                  <a:srgbClr val="E77C25"/>
                </a:solidFill>
                <a:latin typeface="Pretendard SemiBold"/>
                <a:ea typeface="Pretendard SemiBold"/>
                <a:cs typeface="Pretendard SemiBold"/>
              </a:rPr>
              <a:t>CHAPTER II · DEMO —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09967" y="475488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 spc="240">
                <a:solidFill>
                  <a:srgbClr val="8B8E93"/>
                </a:solidFill>
                <a:latin typeface="Pretendard SemiBold"/>
                <a:ea typeface="Pretendard SemiBold"/>
                <a:cs typeface="Pretendard SemiBold"/>
              </a:rPr>
              <a:t>TRANSITION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98448"/>
            <a:ext cx="10509199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300" b="0" i="0">
                <a:solidFill>
                  <a:srgbClr val="0B2A47"/>
                </a:solidFill>
                <a:latin typeface="Pretendard Light"/>
                <a:ea typeface="Pretendard Light"/>
                <a:cs typeface="Pretendard Light"/>
              </a:rPr>
              <a:t>팬의 관심사가</a:t>
            </a:r>
          </a:p>
          <a:p>
            <a:pPr algn="l">
              <a:lnSpc>
                <a:spcPct val="118000"/>
              </a:lnSpc>
            </a:pPr>
            <a:r>
              <a:rPr sz="3300" b="0" i="0">
                <a:solidFill>
                  <a:srgbClr val="0B2A47"/>
                </a:solidFill>
                <a:latin typeface="Pretendard Light"/>
                <a:ea typeface="Pretendard Light"/>
                <a:cs typeface="Pretendard Light"/>
              </a:rPr>
              <a:t>기업을 찾는 근거가 된다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" y="2779776"/>
            <a:ext cx="1050919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3319272"/>
            <a:ext cx="52545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 spc="180">
                <a:solidFill>
                  <a:srgbClr val="0B2A47"/>
                </a:solidFill>
                <a:latin typeface="Pretendard SemiBold"/>
                <a:ea typeface="Pretendard SemiBold"/>
                <a:cs typeface="Pretendard SemiBold"/>
              </a:rPr>
              <a:t>B2C · 여기까지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703320"/>
            <a:ext cx="5254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0B2A47"/>
                </a:solidFill>
                <a:latin typeface="Pretendard Medium"/>
                <a:ea typeface="Pretendard Medium"/>
                <a:cs typeface="Pretendard Medium"/>
              </a:rPr>
              <a:t>Fan Data   →   Fan 360   →   Fan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319272"/>
            <a:ext cx="4980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 spc="180">
                <a:solidFill>
                  <a:srgbClr val="B85E12"/>
                </a:solidFill>
                <a:latin typeface="Pretendard SemiBold"/>
                <a:ea typeface="Pretendard SemiBold"/>
                <a:cs typeface="Pretendard SemiBold"/>
              </a:rPr>
              <a:t>B2B · 여기부터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3703320"/>
            <a:ext cx="4980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300" b="0" i="0">
                <a:solidFill>
                  <a:srgbClr val="B85E12"/>
                </a:solidFill>
                <a:latin typeface="Pretendard Medium"/>
                <a:ea typeface="Pretendard Medium"/>
                <a:cs typeface="Pretendard Medium"/>
              </a:rPr>
              <a:t>Partner Matching   →   Sponsorship Sales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4480559"/>
            <a:ext cx="1050919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" y="4636008"/>
            <a:ext cx="105091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3000" b="0" i="0" spc="300">
                <a:solidFill>
                  <a:srgbClr val="20272F"/>
                </a:solidFill>
                <a:latin typeface="Pretendard Light"/>
                <a:ea typeface="Pretendard Light"/>
                <a:cs typeface="Pretendard Light"/>
              </a:rPr>
              <a:t>FAN INSIGHT</a:t>
            </a:r>
          </a:p>
        </p:txBody>
      </p:sp>
      <p:sp>
        <p:nvSpPr>
          <p:cNvPr id="14" name="Oval 13"/>
          <p:cNvSpPr/>
          <p:nvPr/>
        </p:nvSpPr>
        <p:spPr>
          <a:xfrm>
            <a:off x="6040983" y="4425696"/>
            <a:ext cx="109728" cy="109728"/>
          </a:xfrm>
          <a:prstGeom prst="ellipse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85216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300" b="0" i="0">
                <a:solidFill>
                  <a:srgbClr val="B85E12"/>
                </a:solidFill>
                <a:latin typeface="Pretendard SemiBold"/>
                <a:ea typeface="Pretendard SemiBold"/>
                <a:cs typeface="Pretendard SemiBold"/>
              </a:rPr>
              <a:t>20·30대 여성 팬 증가  ·  뷰티 관심 Signal        →        Partner Matching의 근거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6419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 spc="22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CLOUD ALPACAS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87407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0" i="0" spc="14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2356"/>
            <a:ext cx="100584" cy="100584"/>
          </a:xfrm>
          <a:prstGeom prst="rect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 spc="260">
                <a:solidFill>
                  <a:srgbClr val="E77C25"/>
                </a:solidFill>
                <a:latin typeface="Pretendard SemiBold"/>
                <a:ea typeface="Pretendard SemiBold"/>
                <a:cs typeface="Pretendard SemiBold"/>
              </a:rPr>
              <a:t>CHAPTER II · DEMO — B2B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09967" y="475488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 spc="240">
                <a:solidFill>
                  <a:srgbClr val="8B8E93"/>
                </a:solidFill>
                <a:latin typeface="Pretendard SemiBold"/>
                <a:ea typeface="Pretendard SemiBold"/>
                <a:cs typeface="Pretendard SemiBold"/>
              </a:rPr>
              <a:t>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8229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김매니저 → 이매니저 · FRM → Sponsorship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188720"/>
            <a:ext cx="10509199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0" i="0">
                <a:solidFill>
                  <a:srgbClr val="0B2A47"/>
                </a:solidFill>
                <a:latin typeface="Pretendard Medium"/>
                <a:ea typeface="Pretendard Medium"/>
                <a:cs typeface="Pretendard Medium"/>
              </a:rPr>
              <a:t>팬 데이터를 어떻게</a:t>
            </a:r>
          </a:p>
          <a:p>
            <a:pPr algn="l">
              <a:lnSpc>
                <a:spcPct val="118000"/>
              </a:lnSpc>
            </a:pPr>
            <a:r>
              <a:rPr sz="3100" b="0" i="0">
                <a:solidFill>
                  <a:srgbClr val="0B2A47"/>
                </a:solidFill>
                <a:latin typeface="Pretendard Medium"/>
                <a:ea typeface="Pretendard Medium"/>
                <a:cs typeface="Pretendard Medium"/>
              </a:rPr>
              <a:t>B2B 영업 기회로 연결할까?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2670048"/>
            <a:ext cx="1050919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41248" y="2926080"/>
            <a:ext cx="10509199" cy="287121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2144" y="3255264"/>
            <a:ext cx="118872" cy="118872"/>
          </a:xfrm>
          <a:prstGeom prst="ellipse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31821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 spc="260">
                <a:solidFill>
                  <a:srgbClr val="B85E12"/>
                </a:solidFill>
                <a:latin typeface="Pretendard SemiBold"/>
                <a:ea typeface="Pretendard SemiBold"/>
                <a:cs typeface="Pretendard SemiBold"/>
              </a:rPr>
              <a:t>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904487"/>
            <a:ext cx="9046159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Monthly Fan Insight Letter 확인  →  Slack Agent 분석 요청  →  적합한 Sponsorship 방향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5340096"/>
            <a:ext cx="977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900" b="0" i="0">
                <a:solidFill>
                  <a:srgbClr val="B7B4AD"/>
                </a:solidFill>
                <a:latin typeface="Pretendard"/>
                <a:ea typeface="Pretendard"/>
                <a:cs typeface="Pretendard"/>
              </a:rPr>
              <a:t>발표 중 실제 화면으로 전환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92531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 spc="4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Monthly Fan Insight Letter · Slack Agent        Value  B2C Data → B2B Sales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6419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 spc="22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CLOUD ALPACAS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87407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0" i="0" spc="14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2356"/>
            <a:ext cx="100584" cy="100584"/>
          </a:xfrm>
          <a:prstGeom prst="rect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 spc="260">
                <a:solidFill>
                  <a:srgbClr val="E77C25"/>
                </a:solidFill>
                <a:latin typeface="Pretendard SemiBold"/>
                <a:ea typeface="Pretendard SemiBold"/>
                <a:cs typeface="Pretendard SemiBold"/>
              </a:rPr>
              <a:t>CHAPTER II · DEMO — B2B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09967" y="475488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 spc="240">
                <a:solidFill>
                  <a:srgbClr val="8B8E93"/>
                </a:solidFill>
                <a:latin typeface="Pretendard SemiBold"/>
                <a:ea typeface="Pretendard SemiBold"/>
                <a:cs typeface="Pretendard SemiBold"/>
              </a:rPr>
              <a:t>FORMAT TBD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8229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이매니저 · Sponsorship Sales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188720"/>
            <a:ext cx="10509199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0" i="0">
                <a:solidFill>
                  <a:srgbClr val="0B2A47"/>
                </a:solidFill>
                <a:latin typeface="Pretendard Medium"/>
                <a:ea typeface="Pretendard Medium"/>
                <a:cs typeface="Pretendard Medium"/>
              </a:rPr>
              <a:t>이 팬덤과 가장 잘 맞는 기업은?</a:t>
            </a:r>
          </a:p>
          <a:p>
            <a:pPr algn="l">
              <a:lnSpc>
                <a:spcPct val="118000"/>
              </a:lnSpc>
            </a:pPr>
            <a:r>
              <a:rPr sz="3100" b="0" i="0">
                <a:solidFill>
                  <a:srgbClr val="0B2A47"/>
                </a:solidFill>
                <a:latin typeface="Pretendard Medium"/>
                <a:ea typeface="Pretendard Medium"/>
                <a:cs typeface="Pretendard Medium"/>
              </a:rPr>
              <a:t>— 왜 이 기업인가?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2670048"/>
            <a:ext cx="1050919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41248" y="2926080"/>
            <a:ext cx="10509199" cy="2871215"/>
          </a:xfrm>
          <a:prstGeom prst="rect">
            <a:avLst/>
          </a:prstGeom>
          <a:noFill/>
          <a:ln w="12700">
            <a:solidFill>
              <a:srgbClr val="B7B4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3703320"/>
            <a:ext cx="977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00" b="0" i="0" spc="300">
                <a:solidFill>
                  <a:srgbClr val="8B8E93"/>
                </a:solidFill>
                <a:latin typeface="Pretendard SemiBold"/>
                <a:ea typeface="Pretendard SemiBold"/>
                <a:cs typeface="Pretendard SemiBold"/>
              </a:rPr>
              <a:t>FORMAT TBD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4105655"/>
            <a:ext cx="90461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Fan Insight  →  Fan Fit  →  Partner Candidate  →  d'Alba  →  Sales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5248656"/>
            <a:ext cx="90461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900" b="0" i="0">
                <a:solidFill>
                  <a:srgbClr val="B7B4AD"/>
                </a:solidFill>
                <a:latin typeface="Pretendard"/>
                <a:ea typeface="Pretendard"/>
                <a:cs typeface="Pretendard"/>
              </a:rPr>
              <a:t>Demo순서 이미지에 S4 미표시 — PPT / VIDEO / LIVE 중 미선택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92531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 spc="4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Fan Fit · Segment Match · Lead Score        AI Match &amp; Explain        Value  데이터 기반 파트너 발굴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419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 spc="22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CLOUD ALPACAS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87407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0" i="0" spc="14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2356"/>
            <a:ext cx="100584" cy="100584"/>
          </a:xfrm>
          <a:prstGeom prst="rect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 spc="260">
                <a:solidFill>
                  <a:srgbClr val="E77C25"/>
                </a:solidFill>
                <a:latin typeface="Pretendard SemiBold"/>
                <a:ea typeface="Pretendard SemiBold"/>
                <a:cs typeface="Pretendard SemiBold"/>
              </a:rPr>
              <a:t>CHAPTER II · DEMO — B2B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09967" y="475488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 spc="240">
                <a:solidFill>
                  <a:srgbClr val="8B8E93"/>
                </a:solidFill>
                <a:latin typeface="Pretendard SemiBold"/>
                <a:ea typeface="Pretendard SemiBold"/>
                <a:cs typeface="Pretendard SemiBold"/>
              </a:rPr>
              <a:t>PPT + 5S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8229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이매니저 / d'Alba · Sponsorship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188720"/>
            <a:ext cx="10509199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0" i="0">
                <a:solidFill>
                  <a:srgbClr val="0B2A47"/>
                </a:solidFill>
                <a:latin typeface="Pretendard Medium"/>
                <a:ea typeface="Pretendard Medium"/>
                <a:cs typeface="Pretendard Medium"/>
              </a:rPr>
              <a:t>Sponsor 후보를 어떻게</a:t>
            </a:r>
          </a:p>
          <a:p>
            <a:pPr algn="l">
              <a:lnSpc>
                <a:spcPct val="118000"/>
              </a:lnSpc>
            </a:pPr>
            <a:r>
              <a:rPr sz="3100" b="0" i="0">
                <a:solidFill>
                  <a:srgbClr val="0B2A47"/>
                </a:solidFill>
                <a:latin typeface="Pretendard Medium"/>
                <a:ea typeface="Pretendard Medium"/>
                <a:cs typeface="Pretendard Medium"/>
              </a:rPr>
              <a:t>실제 Deal로 발전시킬까?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2670048"/>
            <a:ext cx="1050919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41248" y="2926080"/>
            <a:ext cx="10509199" cy="287121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3794759"/>
            <a:ext cx="977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00" b="0" i="0" spc="300">
                <a:solidFill>
                  <a:srgbClr val="8B8E93"/>
                </a:solidFill>
                <a:latin typeface="Pretendard SemiBold"/>
                <a:ea typeface="Pretendard SemiBold"/>
                <a:cs typeface="Pretendard SemiBold"/>
              </a:rPr>
              <a:t>SCREENSHOT  +  ▶ 5s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4197096"/>
            <a:ext cx="90461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Tableau Next Dashboard  →  Lead / Lead Score  →  Account (AI Enrichment)  →  d'Alba OPP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78847" y="5084064"/>
            <a:ext cx="1097280" cy="457200"/>
          </a:xfrm>
          <a:prstGeom prst="rect">
            <a:avLst/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78847" y="5065776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950" b="0" i="0">
                <a:solidFill>
                  <a:srgbClr val="D8DADE"/>
                </a:solidFill>
                <a:latin typeface="Pretendard SemiBold"/>
                <a:ea typeface="Pretendard SemiBold"/>
                <a:cs typeface="Pretendard SemiBold"/>
              </a:rPr>
              <a:t>▶ 5s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92531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 spc="4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Tableau Next · Lead Score · Account AI Enrichment        Value  Sales Prioritization · Productivity · Data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6419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 spc="22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CLOUD ALPACAS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87407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0" i="0" spc="14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2356"/>
            <a:ext cx="100584" cy="100584"/>
          </a:xfrm>
          <a:prstGeom prst="rect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 spc="260">
                <a:solidFill>
                  <a:srgbClr val="E77C25"/>
                </a:solidFill>
                <a:latin typeface="Pretendard SemiBold"/>
                <a:ea typeface="Pretendard SemiBold"/>
                <a:cs typeface="Pretendard SemiBold"/>
              </a:rPr>
              <a:t>CHAPTER II · DEMO — B2B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09967" y="475488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 spc="240">
                <a:solidFill>
                  <a:srgbClr val="8B8E93"/>
                </a:solidFill>
                <a:latin typeface="Pretendard SemiBold"/>
                <a:ea typeface="Pretendard SemiBold"/>
                <a:cs typeface="Pretendard SemiBold"/>
              </a:rPr>
              <a:t>DEMO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8229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이매니저 / 김하나 · Sales / d'Alba 담당자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188720"/>
            <a:ext cx="10509199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0" i="0">
                <a:solidFill>
                  <a:srgbClr val="0B2A47"/>
                </a:solidFill>
                <a:latin typeface="Pretendard Medium"/>
                <a:ea typeface="Pretendard Medium"/>
                <a:cs typeface="Pretendard Medium"/>
              </a:rPr>
              <a:t>고객은 무엇을 말했는가?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2066544"/>
            <a:ext cx="1050919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41248" y="2322576"/>
            <a:ext cx="10509199" cy="3474720"/>
          </a:xfrm>
          <a:prstGeom prst="rect">
            <a:avLst/>
          </a:prstGeom>
          <a:solidFill>
            <a:srgbClr val="14171B"/>
          </a:solidFill>
          <a:ln w="12700">
            <a:solidFill>
              <a:srgbClr val="2C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84951" y="3054096"/>
            <a:ext cx="621792" cy="621792"/>
          </a:xfrm>
          <a:prstGeom prst="ellipse">
            <a:avLst/>
          </a:prstGeom>
          <a:noFill/>
          <a:ln w="19050">
            <a:solidFill>
              <a:srgbClr val="C9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21527" y="3054096"/>
            <a:ext cx="65836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700" b="0" i="0">
                <a:solidFill>
                  <a:srgbClr val="C9CDD4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840479"/>
            <a:ext cx="977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950" b="0" i="0" spc="300">
                <a:solidFill>
                  <a:srgbClr val="8C929B"/>
                </a:solidFill>
                <a:latin typeface="Pretendard SemiBold"/>
                <a:ea typeface="Pretendard SemiBold"/>
                <a:cs typeface="Pretendard SemiBold"/>
              </a:rPr>
              <a:t>DEMO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4261104"/>
            <a:ext cx="90461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i="0">
                <a:solidFill>
                  <a:srgbClr val="E4E6EA"/>
                </a:solidFill>
                <a:latin typeface="Pretendard Medium"/>
                <a:ea typeface="Pretendard Medium"/>
                <a:cs typeface="Pretendard Medium"/>
              </a:rPr>
              <a:t>고객 Meeting / Activity  →  기록  →  AI 분석  →  Summary / Signal   (약 3분)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92531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 spc="4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Activity Intelligence        Value  Activity 자산화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6419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 spc="22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CLOUD ALPACAS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87407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0" i="0" spc="14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2356"/>
            <a:ext cx="100584" cy="100584"/>
          </a:xfrm>
          <a:prstGeom prst="rect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 spc="260">
                <a:solidFill>
                  <a:srgbClr val="E77C25"/>
                </a:solidFill>
                <a:latin typeface="Pretendard SemiBold"/>
                <a:ea typeface="Pretendard SemiBold"/>
                <a:cs typeface="Pretendard SemiBold"/>
              </a:rPr>
              <a:t>CHAPTER II · DEMO — B2B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09967" y="475488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 spc="240">
                <a:solidFill>
                  <a:srgbClr val="8B8E93"/>
                </a:solidFill>
                <a:latin typeface="Pretendard SemiBold"/>
                <a:ea typeface="Pretendard SemiBold"/>
                <a:cs typeface="Pretendard SemiBold"/>
              </a:rPr>
              <a:t>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8229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이매니저 / d'Alba · Sponsorship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188720"/>
            <a:ext cx="10509199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0" i="0">
                <a:solidFill>
                  <a:srgbClr val="0B2A47"/>
                </a:solidFill>
                <a:latin typeface="Pretendard Medium"/>
                <a:ea typeface="Pretendard Medium"/>
                <a:cs typeface="Pretendard Medium"/>
              </a:rPr>
              <a:t>그래서 무엇을 제안할까?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2066544"/>
            <a:ext cx="1050919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41248" y="2322576"/>
            <a:ext cx="10509199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2144" y="2651760"/>
            <a:ext cx="118872" cy="118872"/>
          </a:xfrm>
          <a:prstGeom prst="ellipse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257860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 spc="260">
                <a:solidFill>
                  <a:srgbClr val="B85E12"/>
                </a:solidFill>
                <a:latin typeface="Pretendard SemiBold"/>
                <a:ea typeface="Pretendard SemiBold"/>
                <a:cs typeface="Pretendard SemiBold"/>
              </a:rPr>
              <a:t>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602735"/>
            <a:ext cx="9046159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과거 유사 사례 + 현재 OPP + 팬 데이터 + 고객 Activity  →  제안 방향 / Package / Product + 근거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5340096"/>
            <a:ext cx="977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900" b="0" i="0">
                <a:solidFill>
                  <a:srgbClr val="B7B4AD"/>
                </a:solidFill>
                <a:latin typeface="Pretendard"/>
                <a:ea typeface="Pretendard"/>
                <a:cs typeface="Pretendard"/>
              </a:rPr>
              <a:t>발표 중 실제 화면으로 전환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92531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 spc="4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Opportunity Agent        Value  Context 기반 Sales Decision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6419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 spc="22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CLOUD ALPACAS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87407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0" i="0" spc="14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2356"/>
            <a:ext cx="100584" cy="100584"/>
          </a:xfrm>
          <a:prstGeom prst="rect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 spc="260">
                <a:solidFill>
                  <a:srgbClr val="E77C25"/>
                </a:solidFill>
                <a:latin typeface="Pretendard SemiBold"/>
                <a:ea typeface="Pretendard SemiBold"/>
                <a:cs typeface="Pretendard SemiBold"/>
              </a:rPr>
              <a:t>CHAPTER II · DEMO — B2B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09967" y="475488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 spc="240">
                <a:solidFill>
                  <a:srgbClr val="8B8E93"/>
                </a:solidFill>
                <a:latin typeface="Pretendard SemiBold"/>
                <a:ea typeface="Pretendard SemiBold"/>
                <a:cs typeface="Pretendard SemiBold"/>
              </a:rPr>
              <a:t>PPT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8229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이매니저 / 김하나 · Sales / d'Alba 담당자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188720"/>
            <a:ext cx="10509199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0" i="0">
                <a:solidFill>
                  <a:srgbClr val="0B2A47"/>
                </a:solidFill>
                <a:latin typeface="Pretendard Medium"/>
                <a:ea typeface="Pretendard Medium"/>
                <a:cs typeface="Pretendard Medium"/>
              </a:rPr>
              <a:t>고객의 변화에</a:t>
            </a:r>
          </a:p>
          <a:p>
            <a:pPr algn="l">
              <a:lnSpc>
                <a:spcPct val="118000"/>
              </a:lnSpc>
            </a:pPr>
            <a:r>
              <a:rPr sz="3100" b="0" i="0">
                <a:solidFill>
                  <a:srgbClr val="0B2A47"/>
                </a:solidFill>
                <a:latin typeface="Pretendard Medium"/>
                <a:ea typeface="Pretendard Medium"/>
                <a:cs typeface="Pretendard Medium"/>
              </a:rPr>
              <a:t>어떻게 대응할까?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2670048"/>
            <a:ext cx="1050919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41248" y="2926080"/>
            <a:ext cx="10509199" cy="287121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3794759"/>
            <a:ext cx="977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00" b="0" i="0" spc="300">
                <a:solidFill>
                  <a:srgbClr val="8B8E93"/>
                </a:solidFill>
                <a:latin typeface="Pretendard SemiBold"/>
                <a:ea typeface="Pretendard SemiBold"/>
                <a:cs typeface="Pretendard SemiBold"/>
              </a:rPr>
              <a:t>SCREENSHOT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4197096"/>
            <a:ext cx="90461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새 고객 Activity / 상황  →  AI 선제 분석  →  Negotiation 대응 / 수정안 + 근거  →  Closed Won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92531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 spc="4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Proactive AI · Negotiation Assistant        Value  Proactive Selling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419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 spc="22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CLOUD ALPACAS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87407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0" i="0" spc="14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2356"/>
            <a:ext cx="100584" cy="100584"/>
          </a:xfrm>
          <a:prstGeom prst="rect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 spc="260">
                <a:solidFill>
                  <a:srgbClr val="E77C25"/>
                </a:solidFill>
                <a:latin typeface="Pretendard SemiBold"/>
                <a:ea typeface="Pretendard SemiBold"/>
                <a:cs typeface="Pretendard SemiBold"/>
              </a:rPr>
              <a:t>CHAPTER II · DEMO — B2B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09967" y="475488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 spc="240">
                <a:solidFill>
                  <a:srgbClr val="8B8E93"/>
                </a:solidFill>
                <a:latin typeface="Pretendard SemiBold"/>
                <a:ea typeface="Pretendard SemiBold"/>
                <a:cs typeface="Pretendard SemiBold"/>
              </a:rPr>
              <a:t>FORMAT TBD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82295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이매니저 / d'Alba · Sponsorship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188720"/>
            <a:ext cx="10509199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0" i="0">
                <a:solidFill>
                  <a:srgbClr val="0B2A47"/>
                </a:solidFill>
                <a:latin typeface="Pretendard Medium"/>
                <a:ea typeface="Pretendard Medium"/>
                <a:cs typeface="Pretendard Medium"/>
              </a:rPr>
              <a:t>1년 후, 관계를</a:t>
            </a:r>
          </a:p>
          <a:p>
            <a:pPr algn="l">
              <a:lnSpc>
                <a:spcPct val="118000"/>
              </a:lnSpc>
            </a:pPr>
            <a:r>
              <a:rPr sz="3100" b="0" i="0">
                <a:solidFill>
                  <a:srgbClr val="0B2A47"/>
                </a:solidFill>
                <a:latin typeface="Pretendard Medium"/>
                <a:ea typeface="Pretendard Medium"/>
                <a:cs typeface="Pretendard Medium"/>
              </a:rPr>
              <a:t>어떻게 다음 매출로 연결할까?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2670048"/>
            <a:ext cx="1050919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41248" y="2926080"/>
            <a:ext cx="10509199" cy="2871215"/>
          </a:xfrm>
          <a:prstGeom prst="rect">
            <a:avLst/>
          </a:prstGeom>
          <a:noFill/>
          <a:ln w="12700">
            <a:solidFill>
              <a:srgbClr val="B7B4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3703320"/>
            <a:ext cx="977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000" b="0" i="0" spc="300">
                <a:solidFill>
                  <a:srgbClr val="8B8E93"/>
                </a:solidFill>
                <a:latin typeface="Pretendard SemiBold"/>
                <a:ea typeface="Pretendard SemiBold"/>
                <a:cs typeface="Pretendard SemiBold"/>
              </a:rPr>
              <a:t>FORMAT TBD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4105655"/>
            <a:ext cx="90461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'1년 후'  →  단년 계약 종료 임박  →  Partnership Plan 확인  →  d'Alba Upsell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5248656"/>
            <a:ext cx="90461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900" b="0" i="0">
                <a:solidFill>
                  <a:srgbClr val="B7B4AD"/>
                </a:solidFill>
                <a:latin typeface="Pretendard"/>
                <a:ea typeface="Pretendard"/>
                <a:cs typeface="Pretendard"/>
              </a:rPr>
              <a:t>AI 역할·기능·표현 방식 모두 미정 — 팀 확정 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925312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 spc="4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Partnership Plan (논의 필요) · Upsell (논의 필요)        Renewal / Upsell Revenue Expansion (방향)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419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 spc="22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CLOUD ALPACAS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87407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0" i="0" spc="14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2356"/>
            <a:ext cx="100584" cy="100584"/>
          </a:xfrm>
          <a:prstGeom prst="rect">
            <a:avLst/>
          </a:prstGeom>
          <a:solidFill>
            <a:srgbClr val="0B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 spc="260">
                <a:solidFill>
                  <a:srgbClr val="0B2A47"/>
                </a:solidFill>
                <a:latin typeface="Pretendard SemiBold"/>
                <a:ea typeface="Pretendard SemiBold"/>
                <a:cs typeface="Pretendard SemiBold"/>
              </a:rPr>
              <a:t>CHAPTER III · GLOBAL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98448"/>
            <a:ext cx="10509199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300" b="0" i="0">
                <a:solidFill>
                  <a:srgbClr val="0B2A47"/>
                </a:solidFill>
                <a:latin typeface="Pretendard Medium"/>
                <a:ea typeface="Pretendard Medium"/>
                <a:cs typeface="Pretendard Medium"/>
              </a:rPr>
              <a:t>우리가 이렇게 설계한 이유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2176272"/>
            <a:ext cx="1050919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2542032"/>
            <a:ext cx="6400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 i="0">
                <a:solidFill>
                  <a:srgbClr val="E77C25"/>
                </a:solidFill>
                <a:latin typeface="Pretendard Light"/>
                <a:ea typeface="Pretendard Light"/>
                <a:cs typeface="Pretendard Ligh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2505456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 i="0" spc="80">
                <a:solidFill>
                  <a:srgbClr val="0B2A47"/>
                </a:solidFill>
                <a:latin typeface="Pretendard SemiBold"/>
                <a:ea typeface="Pretendard SemiBold"/>
                <a:cs typeface="Pretendard SemiBold"/>
              </a:rPr>
              <a:t>STANDARD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21808" y="2523744"/>
            <a:ext cx="6028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표준 Salesforce를 먼저 활용하고, 필요한 부분만 Custom.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" y="3236975"/>
            <a:ext cx="1050919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1248" y="3383279"/>
            <a:ext cx="6400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 i="0">
                <a:solidFill>
                  <a:srgbClr val="E77C25"/>
                </a:solidFill>
                <a:latin typeface="Pretendard Light"/>
                <a:ea typeface="Pretendard Light"/>
                <a:cs typeface="Pretendard Ligh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3346703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 i="0" spc="80">
                <a:solidFill>
                  <a:srgbClr val="0B2A47"/>
                </a:solidFill>
                <a:latin typeface="Pretendard SemiBold"/>
                <a:ea typeface="Pretendard SemiBold"/>
                <a:cs typeface="Pretendard SemiBold"/>
              </a:rPr>
              <a:t>ONE CUSTOMER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3364991"/>
            <a:ext cx="6028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Fan 360을 중심으로 B2C와 B2B가 같은 데이터를 활용.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4078224"/>
            <a:ext cx="1050919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4224528"/>
            <a:ext cx="6400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 i="0">
                <a:solidFill>
                  <a:srgbClr val="E77C25"/>
                </a:solidFill>
                <a:latin typeface="Pretendard Light"/>
                <a:ea typeface="Pretendard Light"/>
                <a:cs typeface="Pretendard Ligh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418795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 i="0" spc="80">
                <a:solidFill>
                  <a:srgbClr val="0B2A47"/>
                </a:solidFill>
                <a:latin typeface="Pretendard SemiBold"/>
                <a:ea typeface="Pretendard SemiBold"/>
                <a:cs typeface="Pretendard SemiBold"/>
              </a:rPr>
              <a:t>AI + 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4206240"/>
            <a:ext cx="6028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반복은 자동화, AI는 제안, 최종 판단은 사람이 한다.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2688" y="5532120"/>
            <a:ext cx="10326319" cy="0"/>
          </a:xfrm>
          <a:prstGeom prst="line">
            <a:avLst/>
          </a:prstGeom>
          <a:ln w="11430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59536" y="5458968"/>
            <a:ext cx="146304" cy="146304"/>
          </a:xfrm>
          <a:prstGeom prst="ellipse">
            <a:avLst/>
          </a:prstGeom>
          <a:solidFill>
            <a:srgbClr val="FBFAF8"/>
          </a:solidFill>
          <a:ln w="15240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-229022" y="4928616"/>
            <a:ext cx="2323421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Fan Activity</a:t>
            </a:r>
          </a:p>
        </p:txBody>
      </p:sp>
      <p:sp>
        <p:nvSpPr>
          <p:cNvPr id="21" name="Oval 20"/>
          <p:cNvSpPr/>
          <p:nvPr/>
        </p:nvSpPr>
        <p:spPr>
          <a:xfrm>
            <a:off x="3441115" y="5458968"/>
            <a:ext cx="146304" cy="146304"/>
          </a:xfrm>
          <a:prstGeom prst="ellipse">
            <a:avLst/>
          </a:prstGeom>
          <a:solidFill>
            <a:srgbClr val="FBFAF8"/>
          </a:solidFill>
          <a:ln w="15240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23477" y="4928616"/>
            <a:ext cx="2581579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Data</a:t>
            </a:r>
          </a:p>
        </p:txBody>
      </p:sp>
      <p:sp>
        <p:nvSpPr>
          <p:cNvPr id="23" name="Oval 22"/>
          <p:cNvSpPr/>
          <p:nvPr/>
        </p:nvSpPr>
        <p:spPr>
          <a:xfrm>
            <a:off x="6022695" y="5458968"/>
            <a:ext cx="146304" cy="146304"/>
          </a:xfrm>
          <a:prstGeom prst="ellipse">
            <a:avLst/>
          </a:prstGeom>
          <a:solidFill>
            <a:srgbClr val="FBFAF8"/>
          </a:solidFill>
          <a:ln w="15240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5057" y="4928616"/>
            <a:ext cx="2581579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Insight</a:t>
            </a:r>
          </a:p>
        </p:txBody>
      </p:sp>
      <p:sp>
        <p:nvSpPr>
          <p:cNvPr id="25" name="Oval 24"/>
          <p:cNvSpPr/>
          <p:nvPr/>
        </p:nvSpPr>
        <p:spPr>
          <a:xfrm>
            <a:off x="8604275" y="5458968"/>
            <a:ext cx="146304" cy="146304"/>
          </a:xfrm>
          <a:prstGeom prst="ellipse">
            <a:avLst/>
          </a:prstGeom>
          <a:solidFill>
            <a:srgbClr val="FBFAF8"/>
          </a:solidFill>
          <a:ln w="15240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86637" y="4928616"/>
            <a:ext cx="2581579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AI / Automation</a:t>
            </a:r>
          </a:p>
        </p:txBody>
      </p:sp>
      <p:sp>
        <p:nvSpPr>
          <p:cNvPr id="27" name="Oval 26"/>
          <p:cNvSpPr/>
          <p:nvPr/>
        </p:nvSpPr>
        <p:spPr>
          <a:xfrm>
            <a:off x="11185855" y="5458968"/>
            <a:ext cx="146304" cy="146304"/>
          </a:xfrm>
          <a:prstGeom prst="ellipse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97296" y="4928616"/>
            <a:ext cx="2323421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 i="0">
                <a:solidFill>
                  <a:srgbClr val="E77C25"/>
                </a:solidFill>
                <a:latin typeface="Pretendard SemiBold"/>
                <a:ea typeface="Pretendard SemiBold"/>
                <a:cs typeface="Pretendard SemiBold"/>
              </a:rPr>
              <a:t>Human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6053328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850" b="0" i="0">
                <a:solidFill>
                  <a:srgbClr val="B7B4AD"/>
                </a:solidFill>
                <a:latin typeface="Pretendard"/>
                <a:ea typeface="Pretendard"/>
                <a:cs typeface="Pretendard"/>
              </a:rPr>
              <a:t>17 Custom Objects · 40 Flows · 1 Trigger · 46 LWC · 5 Agentforce Agents · 6 Prompt Templates  (실측)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6419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 spc="22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CLOUD ALPACAS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87407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0" i="0" spc="14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2356"/>
            <a:ext cx="100584" cy="100584"/>
          </a:xfrm>
          <a:prstGeom prst="rect">
            <a:avLst/>
          </a:prstGeom>
          <a:solidFill>
            <a:srgbClr val="0B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 spc="260">
                <a:solidFill>
                  <a:srgbClr val="0B2A47"/>
                </a:solidFill>
                <a:latin typeface="Pretendard SemiBold"/>
                <a:ea typeface="Pretendard SemiBold"/>
                <a:cs typeface="Pretendard SemiBold"/>
              </a:rPr>
              <a:t>CHAPTER III · GLOBAL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98448"/>
            <a:ext cx="10509199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0" i="0">
                <a:solidFill>
                  <a:srgbClr val="0B2A47"/>
                </a:solidFill>
                <a:latin typeface="Pretendard Medium"/>
                <a:ea typeface="Pretendard Medium"/>
                <a:cs typeface="Pretendard Medium"/>
              </a:rPr>
              <a:t>설계 원칙이 실제 업무 흐름으로 작동한다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2176272"/>
            <a:ext cx="1050919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32688" y="3246120"/>
            <a:ext cx="10326319" cy="0"/>
          </a:xfrm>
          <a:prstGeom prst="line">
            <a:avLst/>
          </a:prstGeom>
          <a:ln w="11430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59536" y="3172968"/>
            <a:ext cx="146304" cy="146304"/>
          </a:xfrm>
          <a:prstGeom prst="ellipse">
            <a:avLst/>
          </a:prstGeom>
          <a:solidFill>
            <a:srgbClr val="FBFAF8"/>
          </a:solidFill>
          <a:ln w="15240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229022" y="2642615"/>
            <a:ext cx="2323421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Event / Fan 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29022" y="3410712"/>
            <a:ext cx="232342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데이터 발생</a:t>
            </a:r>
          </a:p>
        </p:txBody>
      </p:sp>
      <p:sp>
        <p:nvSpPr>
          <p:cNvPr id="11" name="Oval 10"/>
          <p:cNvSpPr/>
          <p:nvPr/>
        </p:nvSpPr>
        <p:spPr>
          <a:xfrm>
            <a:off x="3441115" y="3172968"/>
            <a:ext cx="146304" cy="146304"/>
          </a:xfrm>
          <a:prstGeom prst="ellipse">
            <a:avLst/>
          </a:prstGeom>
          <a:solidFill>
            <a:srgbClr val="FBFAF8"/>
          </a:solidFill>
          <a:ln w="15240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23477" y="2642615"/>
            <a:ext cx="2581579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3477" y="3410712"/>
            <a:ext cx="25815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반복 자동화</a:t>
            </a:r>
          </a:p>
        </p:txBody>
      </p:sp>
      <p:sp>
        <p:nvSpPr>
          <p:cNvPr id="14" name="Oval 13"/>
          <p:cNvSpPr/>
          <p:nvPr/>
        </p:nvSpPr>
        <p:spPr>
          <a:xfrm>
            <a:off x="6022695" y="3172968"/>
            <a:ext cx="146304" cy="146304"/>
          </a:xfrm>
          <a:prstGeom prst="ellipse">
            <a:avLst/>
          </a:prstGeom>
          <a:solidFill>
            <a:srgbClr val="FBFAF8"/>
          </a:solidFill>
          <a:ln w="15240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057" y="2642615"/>
            <a:ext cx="2581579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Recommendation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057" y="3410712"/>
            <a:ext cx="25815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다음 행동 제안</a:t>
            </a:r>
          </a:p>
        </p:txBody>
      </p:sp>
      <p:sp>
        <p:nvSpPr>
          <p:cNvPr id="17" name="Oval 16"/>
          <p:cNvSpPr/>
          <p:nvPr/>
        </p:nvSpPr>
        <p:spPr>
          <a:xfrm>
            <a:off x="8604275" y="3172968"/>
            <a:ext cx="146304" cy="146304"/>
          </a:xfrm>
          <a:prstGeom prst="ellipse">
            <a:avLst/>
          </a:prstGeom>
          <a:solidFill>
            <a:srgbClr val="FBFAF8"/>
          </a:solidFill>
          <a:ln w="15240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86637" y="2642615"/>
            <a:ext cx="2581579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20272F"/>
                </a:solidFill>
                <a:latin typeface="Pretendard Medium"/>
                <a:ea typeface="Pretendard Medium"/>
                <a:cs typeface="Pretendard Medium"/>
              </a:rPr>
              <a:t>Slack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6637" y="3410712"/>
            <a:ext cx="25815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담당자 전달</a:t>
            </a:r>
          </a:p>
        </p:txBody>
      </p:sp>
      <p:sp>
        <p:nvSpPr>
          <p:cNvPr id="20" name="Oval 19"/>
          <p:cNvSpPr/>
          <p:nvPr/>
        </p:nvSpPr>
        <p:spPr>
          <a:xfrm>
            <a:off x="11185855" y="3172968"/>
            <a:ext cx="146304" cy="146304"/>
          </a:xfrm>
          <a:prstGeom prst="ellipse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97296" y="2642615"/>
            <a:ext cx="2323421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E77C25"/>
                </a:solidFill>
                <a:latin typeface="Pretendard SemiBold"/>
                <a:ea typeface="Pretendard SemiBold"/>
                <a:cs typeface="Pretendard SemiBold"/>
              </a:rPr>
              <a:t>Manager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7296" y="3410712"/>
            <a:ext cx="232342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B8E93"/>
                </a:solidFill>
                <a:latin typeface="Pretendard"/>
                <a:ea typeface="Pretendard"/>
                <a:cs typeface="Pretendard"/>
              </a:rPr>
              <a:t>사람이 판단·실행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3977639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950" b="0" i="0">
                <a:solidFill>
                  <a:srgbClr val="B7B4AD"/>
                </a:solidFill>
                <a:latin typeface="Pretendard"/>
                <a:ea typeface="Pretendard"/>
                <a:cs typeface="Pretendard"/>
              </a:rPr>
              <a:t>Salesforce Platform · Customer 360 · Flow · Agentforce · Slack  이 커넥터처럼 잇는다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52928" y="4892040"/>
            <a:ext cx="648583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41248" y="5120640"/>
            <a:ext cx="105091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900" b="0" i="0">
                <a:solidFill>
                  <a:srgbClr val="20272F"/>
                </a:solidFill>
                <a:latin typeface="Pretendard Light"/>
                <a:ea typeface="Pretendard Light"/>
                <a:cs typeface="Pretendard Light"/>
              </a:rPr>
              <a:t>자동화의 목적은 사람을 대체하는 것이 아니라,</a:t>
            </a:r>
          </a:p>
          <a:p>
            <a:pPr algn="ctr">
              <a:lnSpc>
                <a:spcPct val="140000"/>
              </a:lnSpc>
            </a:pPr>
            <a:r>
              <a:rPr sz="1900" b="0" i="0">
                <a:solidFill>
                  <a:srgbClr val="20272F"/>
                </a:solidFill>
                <a:latin typeface="Pretendard Light"/>
                <a:ea typeface="Pretendard Light"/>
                <a:cs typeface="Pretendard Light"/>
              </a:rPr>
              <a:t>담당자가 판단하고 실행할 시간을 </a:t>
            </a:r>
            <a:r>
              <a:rPr sz="1900" b="0" i="0">
                <a:solidFill>
                  <a:srgbClr val="B85E12"/>
                </a:solidFill>
                <a:latin typeface="Pretendard SemiBold"/>
                <a:ea typeface="Pretendard SemiBold"/>
                <a:cs typeface="Pretendard SemiBold"/>
              </a:rPr>
              <a:t>확보하는 것.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6419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 spc="22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CLOUD ALPACAS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87407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0" i="0" spc="14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2356"/>
            <a:ext cx="100584" cy="100584"/>
          </a:xfrm>
          <a:prstGeom prst="rect">
            <a:avLst/>
          </a:prstGeom>
          <a:solidFill>
            <a:srgbClr val="0B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4754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 spc="260">
                <a:solidFill>
                  <a:srgbClr val="0B2A47"/>
                </a:solidFill>
                <a:latin typeface="Pretendard SemiBold"/>
                <a:ea typeface="Pretendard SemiBold"/>
                <a:cs typeface="Pretendard SemiBold"/>
              </a:rPr>
              <a:t>CHAPTER IV ·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98448"/>
            <a:ext cx="10509199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300" b="0" i="0">
                <a:solidFill>
                  <a:srgbClr val="0B2A47"/>
                </a:solidFill>
                <a:latin typeface="Pretendard Medium"/>
                <a:ea typeface="Pretendard Medium"/>
                <a:cs typeface="Pretendard Medium"/>
              </a:rPr>
              <a:t>우리가 만든 것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2176272"/>
            <a:ext cx="10509199" cy="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2633472"/>
            <a:ext cx="304586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0" i="0">
                <a:solidFill>
                  <a:srgbClr val="0B2A47"/>
                </a:solidFill>
                <a:latin typeface="Pretendard Light"/>
                <a:ea typeface="Pretendard Light"/>
                <a:cs typeface="Pretendard Light"/>
              </a:rPr>
              <a:t>FAN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474720"/>
            <a:ext cx="30458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팬을 이해하다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005072"/>
            <a:ext cx="295442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0272F"/>
                </a:solidFill>
                <a:latin typeface="Pretendard"/>
                <a:ea typeface="Pretendard"/>
                <a:cs typeface="Pretendard"/>
              </a:rPr>
              <a:t>Fan 360 · Personalization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919472"/>
            <a:ext cx="29544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B85E12"/>
                </a:solidFill>
                <a:latin typeface="Pretendard SemiBold"/>
                <a:ea typeface="Pretendard SemiBold"/>
                <a:cs typeface="Pretendard SemiBold"/>
              </a:rPr>
              <a:t>Fan Lifetime Value  ↑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44314" y="2633472"/>
            <a:ext cx="0" cy="274320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801514" y="2633472"/>
            <a:ext cx="304586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0" i="0">
                <a:solidFill>
                  <a:srgbClr val="0B2A47"/>
                </a:solidFill>
                <a:latin typeface="Pretendard Light"/>
                <a:ea typeface="Pretendard Light"/>
                <a:cs typeface="Pretendard Light"/>
              </a:rPr>
              <a:t>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1514" y="3474720"/>
            <a:ext cx="30458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기회를 발견하다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1514" y="4005072"/>
            <a:ext cx="295442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0272F"/>
                </a:solidFill>
                <a:latin typeface="Pretendard"/>
                <a:ea typeface="Pretendard"/>
                <a:cs typeface="Pretendard"/>
              </a:rPr>
              <a:t>Fan Insight · Partner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1514" y="4919472"/>
            <a:ext cx="29544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B85E12"/>
                </a:solidFill>
                <a:latin typeface="Pretendard SemiBold"/>
                <a:ea typeface="Pretendard SemiBold"/>
                <a:cs typeface="Pretendard SemiBold"/>
              </a:rPr>
              <a:t>Personalized Fan Experience  ↑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47380" y="2633472"/>
            <a:ext cx="0" cy="2743200"/>
          </a:xfrm>
          <a:prstGeom prst="line">
            <a:avLst/>
          </a:prstGeom>
          <a:ln w="9525">
            <a:solidFill>
              <a:srgbClr val="E5E1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304580" y="2633472"/>
            <a:ext cx="304586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0" i="0">
                <a:solidFill>
                  <a:srgbClr val="E77C25"/>
                </a:solidFill>
                <a:latin typeface="Pretendard Light"/>
                <a:ea typeface="Pretendard Light"/>
                <a:cs typeface="Pretendard Light"/>
              </a:rPr>
              <a:t>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4580" y="3474720"/>
            <a:ext cx="30458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매출로 연결하다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4580" y="4005072"/>
            <a:ext cx="295442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0272F"/>
                </a:solidFill>
                <a:latin typeface="Pretendard"/>
                <a:ea typeface="Pretendard"/>
                <a:cs typeface="Pretendard"/>
              </a:rPr>
              <a:t>Sponsorship Sales · 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4580" y="4919472"/>
            <a:ext cx="29544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B85E12"/>
                </a:solidFill>
                <a:latin typeface="Pretendard SemiBold"/>
                <a:ea typeface="Pretendard SemiBold"/>
                <a:cs typeface="Pretendard SemiBold"/>
              </a:rPr>
              <a:t>Sponsorship Revenue  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943600"/>
            <a:ext cx="105091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1100" b="0" i="0" spc="100">
                <a:solidFill>
                  <a:srgbClr val="8B8E93"/>
                </a:solidFill>
                <a:latin typeface="Pretendard Medium"/>
                <a:ea typeface="Pretendard Medium"/>
                <a:cs typeface="Pretendard Medium"/>
              </a:rPr>
              <a:t>FAN   →   INSIGHT   →   REVENUE   —   하나의 흐름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6419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 spc="22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CLOUD ALPACAS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87407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0" i="0" spc="140">
                <a:solidFill>
                  <a:srgbClr val="B7B4AD"/>
                </a:solidFill>
                <a:latin typeface="Pretendard SemiBold"/>
                <a:ea typeface="Pretendard SemiBold"/>
                <a:cs typeface="Pretendard SemiBold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 spc="200">
                <a:solidFill>
                  <a:srgbClr val="9DB0C4"/>
                </a:solidFill>
                <a:latin typeface="Pretendard SemiBold"/>
                <a:ea typeface="Pretendard SemiBold"/>
                <a:cs typeface="Pretendard SemiBold"/>
              </a:rPr>
              <a:t>NOW · 현재 구현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32688" y="1024128"/>
            <a:ext cx="10143439" cy="0"/>
          </a:xfrm>
          <a:prstGeom prst="line">
            <a:avLst/>
          </a:prstGeom>
          <a:ln w="11430">
            <a:solidFill>
              <a:srgbClr val="4356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59536" y="950976"/>
            <a:ext cx="146304" cy="146304"/>
          </a:xfrm>
          <a:prstGeom prst="ellipse">
            <a:avLst/>
          </a:prstGeom>
          <a:solidFill>
            <a:srgbClr val="071B2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588827" y="420624"/>
            <a:ext cx="3043031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 i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Fan Data</a:t>
            </a:r>
          </a:p>
        </p:txBody>
      </p:sp>
      <p:sp>
        <p:nvSpPr>
          <p:cNvPr id="8" name="Oval 7"/>
          <p:cNvSpPr/>
          <p:nvPr/>
        </p:nvSpPr>
        <p:spPr>
          <a:xfrm>
            <a:off x="4240682" y="950976"/>
            <a:ext cx="146304" cy="146304"/>
          </a:xfrm>
          <a:prstGeom prst="ellipse">
            <a:avLst/>
          </a:prstGeom>
          <a:solidFill>
            <a:srgbClr val="071B2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3261" y="420624"/>
            <a:ext cx="3381146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 i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Insight</a:t>
            </a:r>
          </a:p>
        </p:txBody>
      </p:sp>
      <p:sp>
        <p:nvSpPr>
          <p:cNvPr id="10" name="Oval 9"/>
          <p:cNvSpPr/>
          <p:nvPr/>
        </p:nvSpPr>
        <p:spPr>
          <a:xfrm>
            <a:off x="7621828" y="950976"/>
            <a:ext cx="146304" cy="146304"/>
          </a:xfrm>
          <a:prstGeom prst="ellipse">
            <a:avLst/>
          </a:prstGeom>
          <a:solidFill>
            <a:srgbClr val="071B2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04407" y="420624"/>
            <a:ext cx="3381146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 i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Partner Matching</a:t>
            </a:r>
          </a:p>
        </p:txBody>
      </p:sp>
      <p:sp>
        <p:nvSpPr>
          <p:cNvPr id="12" name="Oval 11"/>
          <p:cNvSpPr/>
          <p:nvPr/>
        </p:nvSpPr>
        <p:spPr>
          <a:xfrm>
            <a:off x="11002975" y="950976"/>
            <a:ext cx="146304" cy="146304"/>
          </a:xfrm>
          <a:prstGeom prst="ellipse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4611" y="420624"/>
            <a:ext cx="3043031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 i="0">
                <a:solidFill>
                  <a:srgbClr val="E77C25"/>
                </a:solidFill>
                <a:latin typeface="Pretendard SemiBold"/>
                <a:ea typeface="Pretendard SemiBold"/>
                <a:cs typeface="Pretendard SemiBold"/>
              </a:rPr>
              <a:t>Sponsorship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737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 spc="200">
                <a:solidFill>
                  <a:srgbClr val="C79A93"/>
                </a:solidFill>
                <a:latin typeface="Pretendard SemiBold"/>
                <a:ea typeface="Pretendard SemiBold"/>
                <a:cs typeface="Pretendard SemiBold"/>
              </a:rPr>
              <a:t>FUTURE SCOPE · 미구현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2688" y="2395728"/>
            <a:ext cx="10143439" cy="0"/>
          </a:xfrm>
          <a:prstGeom prst="line">
            <a:avLst/>
          </a:prstGeom>
          <a:ln w="11430">
            <a:solidFill>
              <a:srgbClr val="3A3330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-588827" y="2487168"/>
            <a:ext cx="3043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950" b="0" i="0">
                <a:solidFill>
                  <a:srgbClr val="7E6E6A"/>
                </a:solidFill>
                <a:latin typeface="Pretendard"/>
                <a:ea typeface="Pretendard"/>
                <a:cs typeface="Pretendard"/>
              </a:rPr>
              <a:t>Real-time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3261" y="2487168"/>
            <a:ext cx="33811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950" b="0" i="0">
                <a:solidFill>
                  <a:srgbClr val="7E6E6A"/>
                </a:solidFill>
                <a:latin typeface="Pretendard"/>
                <a:ea typeface="Pretendard"/>
                <a:cs typeface="Pretendard"/>
              </a:rPr>
              <a:t>AI 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4407" y="2487168"/>
            <a:ext cx="33811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950" b="0" i="0">
                <a:solidFill>
                  <a:srgbClr val="7E6E6A"/>
                </a:solidFill>
                <a:latin typeface="Pretendard"/>
                <a:ea typeface="Pretendard"/>
                <a:cs typeface="Pretendard"/>
              </a:rPr>
              <a:t>Autonomous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4611" y="2487168"/>
            <a:ext cx="3043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950" b="0" i="0">
                <a:solidFill>
                  <a:srgbClr val="7E6E6A"/>
                </a:solidFill>
                <a:latin typeface="Pretendard"/>
                <a:ea typeface="Pretendard"/>
                <a:cs typeface="Pretendard"/>
              </a:rPr>
              <a:t>Continuous Revenue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383280"/>
            <a:ext cx="9326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3100" b="0" i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팬을 이해하고,</a:t>
            </a:r>
          </a:p>
          <a:p>
            <a:pPr algn="l">
              <a:lnSpc>
                <a:spcPct val="134000"/>
              </a:lnSpc>
            </a:pPr>
            <a:r>
              <a:rPr sz="3100" b="0" i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팬덤의 가치를 발견하고,</a:t>
            </a:r>
          </a:p>
          <a:p>
            <a:pPr algn="l">
              <a:lnSpc>
                <a:spcPct val="134000"/>
              </a:lnSpc>
            </a:pPr>
            <a:r>
              <a:rPr sz="3100" b="0" i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그 가치를 매출로 연결합니다.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1248" y="5742432"/>
            <a:ext cx="4206240" cy="0"/>
          </a:xfrm>
          <a:prstGeom prst="line">
            <a:avLst/>
          </a:prstGeom>
          <a:ln w="12700">
            <a:solidFill>
              <a:srgbClr val="3146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1248" y="5943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 i="0" spc="60">
                <a:solidFill>
                  <a:srgbClr val="E77C25"/>
                </a:solidFill>
                <a:latin typeface="Pretendard SemiBold"/>
                <a:ea typeface="Pretendard SemiBold"/>
                <a:cs typeface="Pretendard SemiBold"/>
              </a:rPr>
              <a:t>CLOUD ALPACAS</a:t>
            </a:r>
            <a:r>
              <a:rPr sz="1300" b="0" i="0" spc="60">
                <a:solidFill>
                  <a:srgbClr val="AEBECE"/>
                </a:solidFill>
                <a:latin typeface="Pretendard"/>
                <a:ea typeface="Pretendard"/>
                <a:cs typeface="Pretendard"/>
              </a:rPr>
              <a:t>      ·      Sustainable Revenue Engine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55887" y="3566160"/>
            <a:ext cx="2194560" cy="1737360"/>
          </a:xfrm>
          <a:prstGeom prst="rect">
            <a:avLst/>
          </a:prstGeom>
          <a:noFill/>
          <a:ln w="12700">
            <a:solidFill>
              <a:srgbClr val="31465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5887" y="3566160"/>
            <a:ext cx="21945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6000"/>
              </a:lnSpc>
            </a:pPr>
            <a:r>
              <a:rPr sz="950" b="0" i="0" spc="200">
                <a:solidFill>
                  <a:srgbClr val="6E8093"/>
                </a:solidFill>
                <a:latin typeface="Pretendard SemiBold"/>
                <a:ea typeface="Pretendard SemiBold"/>
                <a:cs typeface="Pretendard SemiBold"/>
              </a:rPr>
              <a:t>ALPACA  +  LOGO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6419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 spc="220">
                <a:solidFill>
                  <a:srgbClr val="6E8093"/>
                </a:solidFill>
                <a:latin typeface="Pretendard SemiBold"/>
                <a:ea typeface="Pretendard SemiBold"/>
                <a:cs typeface="Pretendard SemiBold"/>
              </a:rPr>
              <a:t>CLOUD ALPACAS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87407" y="641908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0" i="0" spc="140">
                <a:solidFill>
                  <a:srgbClr val="6E8093"/>
                </a:solidFill>
                <a:latin typeface="Pretendard SemiBold"/>
                <a:ea typeface="Pretendard SemiBold"/>
                <a:cs typeface="Pretendard SemiBold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