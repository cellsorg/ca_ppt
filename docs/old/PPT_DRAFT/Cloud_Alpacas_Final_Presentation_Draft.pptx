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표지. 한 문장(타이틀) + 서브 1줄 + 팀/날짜. Cloud Alpacas 로고·마스코트 자산을 우측 박스에 배치. 발표자: 오늘 이야기는 '팬을 이해해 매출로 바꾸는 시스템'입니다.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하나의 큰 질문으로 시작. 두 그래프의 '엇갈림'이 핵심 — 실제 수치가 없으면 방향(↑ / ↔·↓)만. 임의 성장률·매출 수치 만들지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Pain Point는 정확히 3개. 큰 숫자 + 강한 headline + 짧은 subline. 긴 설명은 발표자가 말한다.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자동화를 '기술 기능'이 아니라 '업무 방식의 변화'로 설명. 발표자: 사람이 모든 단계를 손으로 잇던 일을 플랫폼이 잇고, 사람은 판단·실행만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B2C와 B2B가 별개 프로젝트가 아니라 Fan Insight로 이어진 하나의 흐름임을 보여준다. 팀은 1줄로.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목차. 'Business Opportunity'라는 말은 쓰지 않는다 — Partner Matching. Fan Insight가 B2C의 마지막이자 B2B의 출발점.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 경기장 전광판처럼. QR destination이 확정 안 됐으면 'QR PLACEHOLDER' 유지 — 가짜 QR을 실제처럼 표현하지 않는다. Cloud Alpacas 알파카 마스코트를 이벤트 안내 그래픽으로 활용 가능. 발표자: 지금 여러분은 경기장 관객입니다. 전광판에 이벤트가 떴습니다. QR을 찍어보세요. → 이 참여가 곧 CRM 데이터가 됩니다. (04_DEMO Scene 1 = 'PPT + 관객 참여')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발표자: 티켓·굿즈·멤버십·참여가 흩어져 있던 데이터를 한 팬의 프로필·타임라인으로. 실제 Fan 360 / Fan Profile 화면 캡처. (04_DEMO Scene 2 앞부분)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 재생 영역이 화면의 중심. 발표자: 팬별 특성을 담당자가 일일이 쓰기 어려웠다 — AI가 생성하고 담당자가 검토·승인 후 발송(Human-in-the-loop). (04_DEMO 데모 영상 ①)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전체의 turning point. 여기서 색·발표 톤이 파랑(B2C)→초록(B2B)으로 전환. Fan Insight는 B2B 안이 아니라 B2C의 마지막 단계. 발표자: 팬의 관심사가 곧 어떤 기업을 찾을지의 근거가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현장 시연. 발표자: B2C에서 쌓인 팬 데이터를 B2B 담당자가 직접 다시 해석해야 했다 — 이제 월간 Fan Insight Letter와 Slack Agent가 방향을 좁혀준다. 김매니저 → 이매니저 handoff. (04_DEMO Scene 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‘d'Alba는 팬덤과 높은 적합도를 보여 후보가 됐습니다’ — AI는 정답이 아니라 '왜 이 기업인가'를 설명. Fan Fit / Segment Match(팬덤 적합도) ≠ Lead Score(계약 가능성). 기업 데이터 = OpenDART API. ※ Demo순서 이미지에 S4 열이 없어 재구성 — 포함 여부·표현 방식 팀 확정 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PPT 위에 약 5초 임베드 영상. 발표자: 유망 Sponsor 판단부터 Account 정보 보완까지 수작업이 많았다 — 우선순위는 Lead Score, 빈 정보는 AI가 DART로 채운다. (04_DEMO Scene 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영상 재생 영역이 화면의 중심. 발표자: 미팅·대화가 단순 기록으로 남아 다시 읽고 해석해야 했다 — 이제 대화가 요약·Signal(긍정/위험)로 정리된다. Zoom 연동 · Interaction Intelligence. (04_DEMO Scene 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현장 시연. 발표자: 담당자가 컨텍스트를 직접 모아 판단해야 했다 — Agent가 근거와 함께 제안 방향을 제시. 조회·추천은 즉시, 쓰기는 담당자 승인 후. (04_DEMO Scene 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발표자: 고객 반응 변화마다 다시 분석해야 했다 — AI가 변화를 먼저 감지해 수정안을 근거와 함께 제시. 최종 결정·승인은 담당자. ⚠️ 구체 금액은 발표 전 하나로 통일 (04_DEMO 가격 검증). (04_DEMO Scene 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Demo순서 이미지: 표현 방식·AI 역할·기능 모두 미정. 재계약·장기 Partnership 자동화는 문서상 Future Scope — 구현 확인된 부분만 시연. 발표자: '첫 계약은 매출엔진의 끝이 아니라 시작' — 단, 여기부터는 방향 제시. (04_DEMO Scene 9)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4개 기술 나열이 아니라 설계 원칙 3개. 각 원칙은 Headline + 1줄. 구현 수치는 발표자가 필요할 때만 언급. '왜 이렇게 설계했는가'를 설명하는 페이지.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기존 Automation 페이지 중심. 단계별 1줄 역할. 긴 설명 금지. 발표자: Flow가 반복을 처리하고 사람은 판단·실행에 집중한다.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We Built + Business Value 통합. 한 페이지에서 FAN→INSIGHT→REVENUE가 한눈에. 미측정 KPI·ROI 금지.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발표의 마지막 슬라이드. FUTURE는 현재 구현처럼 보이지 않게(점선·흐리게). 별도 Closing/당첨자 슬라이드 없음 — 이후 발표자가 '오늘 참여해주신 분들 중…' 하며 LIVE 당첨자 발표 → Q&amp;A로 전환.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7772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 spc="240">
                <a:solidFill>
                  <a:srgbClr val="E77C25"/>
                </a:solidFill>
                <a:latin typeface="Pretendard"/>
                <a:ea typeface="Pretendard"/>
                <a:cs typeface="Pretendard"/>
              </a:rPr>
              <a:t>CLOUD ALPACAS   ·   SALESFORCE CUSTOMER 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59" y="214884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외부 환경에 흔들리지 않는</a:t>
            </a:r>
          </a:p>
          <a:p>
            <a:pPr algn="l">
              <a:lnSpc>
                <a:spcPct val="112000"/>
              </a:lnSpc>
            </a:pPr>
            <a:r>
              <a:rPr sz="52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지속 가능한 매출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45262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B9C6D6"/>
                </a:solidFill>
                <a:latin typeface="Pretendard"/>
                <a:ea typeface="Pretendard"/>
                <a:cs typeface="Pretendard"/>
              </a:rPr>
              <a:t>Fan 360   →   Fan Insight   →   Partner Matching   →   Sponsorship Sales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22959" y="5806440"/>
            <a:ext cx="5120641" cy="0"/>
          </a:xfrm>
          <a:prstGeom prst="line">
            <a:avLst/>
          </a:prstGeom>
          <a:ln w="12700">
            <a:solidFill>
              <a:srgbClr val="3C56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22959" y="59893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 i="0">
                <a:solidFill>
                  <a:srgbClr val="8FA0B4"/>
                </a:solidFill>
                <a:latin typeface="Pretendard"/>
                <a:ea typeface="Pretendard"/>
                <a:cs typeface="Pretendard"/>
              </a:rPr>
              <a:t>Cellsforce  ·  Fan Relationship Management Team          |          Final Presentation (Draft)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62695" y="2148840"/>
            <a:ext cx="2697480" cy="2468880"/>
          </a:xfrm>
          <a:prstGeom prst="roundRect">
            <a:avLst>
              <a:gd name="adj" fmla="val 3000"/>
            </a:avLst>
          </a:prstGeom>
          <a:solidFill>
            <a:srgbClr val="FBFAF8"/>
          </a:solidFill>
          <a:ln w="15875">
            <a:solidFill>
              <a:srgbClr val="DAD3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54135" y="2148840"/>
            <a:ext cx="2514600" cy="2468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6B7686"/>
                </a:solidFill>
                <a:latin typeface="Pretendard"/>
                <a:ea typeface="Pretendard"/>
                <a:cs typeface="Pretendard"/>
              </a:rPr>
              <a:t>[ ALPACA MASCOT</a:t>
            </a:r>
          </a:p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6B7686"/>
                </a:solidFill>
                <a:latin typeface="Pretendard"/>
                <a:ea typeface="Pretendard"/>
                <a:cs typeface="Pretendard"/>
              </a:rPr>
              <a:t>+ LOGO LOCKUP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CHAPTER I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1682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0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팬은 늘어나는데,</a:t>
            </a:r>
          </a:p>
          <a:p>
            <a:pPr algn="l">
              <a:lnSpc>
                <a:spcPct val="114000"/>
              </a:lnSpc>
            </a:pPr>
            <a:r>
              <a:rPr sz="30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왜 구단의 매출은 함께 성장하지 않을까?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901952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331720"/>
            <a:ext cx="5227167" cy="2834640"/>
          </a:xfrm>
          <a:prstGeom prst="roundRect">
            <a:avLst>
              <a:gd name="adj" fmla="val 3000"/>
            </a:avLst>
          </a:prstGeom>
          <a:solidFill>
            <a:srgbClr val="FBFAF8"/>
          </a:solidFill>
          <a:ln w="15875">
            <a:solidFill>
              <a:srgbClr val="DAD3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3182111"/>
            <a:ext cx="486140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 spc="160">
                <a:solidFill>
                  <a:srgbClr val="8A94A3"/>
                </a:solidFill>
                <a:latin typeface="Pretendard"/>
                <a:ea typeface="Pretendard"/>
                <a:cs typeface="Pretendard"/>
              </a:rPr>
              <a:t>DATA PLACEHOLDER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19" y="3584447"/>
            <a:ext cx="45870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6B7686"/>
                </a:solidFill>
                <a:latin typeface="Pretendard"/>
                <a:ea typeface="Pretendard"/>
                <a:cs typeface="Pretendard"/>
              </a:rPr>
              <a:t>팬 수 — 우상향 (Fan Base ↑)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24447" y="2331720"/>
            <a:ext cx="5227167" cy="2834640"/>
          </a:xfrm>
          <a:prstGeom prst="roundRect">
            <a:avLst>
              <a:gd name="adj" fmla="val 3000"/>
            </a:avLst>
          </a:prstGeom>
          <a:solidFill>
            <a:srgbClr val="FBFAF8"/>
          </a:solidFill>
          <a:ln w="15875">
            <a:solidFill>
              <a:srgbClr val="DAD3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3182111"/>
            <a:ext cx="486140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 spc="160">
                <a:solidFill>
                  <a:srgbClr val="8A94A3"/>
                </a:solidFill>
                <a:latin typeface="Pretendard"/>
                <a:ea typeface="Pretendard"/>
                <a:cs typeface="Pretendard"/>
              </a:rPr>
              <a:t>DATA PLACEHOLDER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44487" y="3584447"/>
            <a:ext cx="458708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6B7686"/>
                </a:solidFill>
                <a:latin typeface="Pretendard"/>
                <a:ea typeface="Pretendard"/>
                <a:cs typeface="Pretendard"/>
              </a:rPr>
              <a:t>구단 매출 — 정체 · 적자 (Revenue ↔ / ↓)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4406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B85E12"/>
                </a:solidFill>
                <a:latin typeface="Pretendard"/>
                <a:ea typeface="Pretendard"/>
                <a:cs typeface="Pretendard"/>
              </a:rPr>
              <a:t>팬 성장이 곧 구단의 지속 가능성은 아니다.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CHAPTER I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3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Salesforce 도입 전, 세 가지 문제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35024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965960"/>
            <a:ext cx="3454298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965960"/>
            <a:ext cx="3454298" cy="91440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286000"/>
            <a:ext cx="29056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200400"/>
            <a:ext cx="290565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팬 데이터가 흩어져 있다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32688" y="4526280"/>
            <a:ext cx="2869082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932688" y="4681728"/>
            <a:ext cx="29056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팬의 전체 여정을 하나로 볼 수 없다.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8698" y="1965960"/>
            <a:ext cx="3454298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8698" y="1965960"/>
            <a:ext cx="3454298" cy="91440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1306" y="2286000"/>
            <a:ext cx="29056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1306" y="3200400"/>
            <a:ext cx="290565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데이터는 많지만 ACTION이 없다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61306" y="4526280"/>
            <a:ext cx="2869082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661306" y="4681728"/>
            <a:ext cx="29056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팬을 이해해도 다음 행동으로 이어지지 않는다.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1965960"/>
            <a:ext cx="3454298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7316" y="1965960"/>
            <a:ext cx="3454298" cy="91440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89924" y="2286000"/>
            <a:ext cx="29056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4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9924" y="3200400"/>
            <a:ext cx="290565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팬덤의 가치를 기업의 기회로 연결할 수 없다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89924" y="4526280"/>
            <a:ext cx="2869083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89924" y="4681728"/>
            <a:ext cx="290565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어떤 기업이 우리 팬덤과 맞는지 판단할 근거가 없다.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CHAPTER I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1682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0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반복은 자동화하고,</a:t>
            </a:r>
          </a:p>
          <a:p>
            <a:pPr algn="l">
              <a:lnSpc>
                <a:spcPct val="114000"/>
              </a:lnSpc>
            </a:pPr>
            <a:r>
              <a:rPr sz="30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사람은 판단과 실행에 집중한다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901952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788920"/>
            <a:ext cx="188969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843784"/>
            <a:ext cx="1779971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Fan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657600"/>
            <a:ext cx="177997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데이터 발생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9779" y="2788920"/>
            <a:ext cx="3657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5539" y="2788920"/>
            <a:ext cx="188969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0403" y="2843784"/>
            <a:ext cx="1779971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0403" y="3657600"/>
            <a:ext cx="177997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반복 자동화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5238" y="2788920"/>
            <a:ext cx="3657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0998" y="2788920"/>
            <a:ext cx="188969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5862" y="2843784"/>
            <a:ext cx="1779971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Insight / 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5862" y="3657600"/>
            <a:ext cx="177997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다음 행동 제안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697" y="2788920"/>
            <a:ext cx="3657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457" y="2788920"/>
            <a:ext cx="1889699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321" y="2843784"/>
            <a:ext cx="1779971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Slack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321" y="3657600"/>
            <a:ext cx="177997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담당자 전달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6156" y="2788920"/>
            <a:ext cx="3657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1916" y="2788920"/>
            <a:ext cx="1889699" cy="1234440"/>
          </a:xfrm>
          <a:prstGeom prst="roundRect">
            <a:avLst>
              <a:gd name="adj" fmla="val 8000"/>
            </a:avLst>
          </a:prstGeom>
          <a:solidFill>
            <a:srgbClr val="0B2A47"/>
          </a:solidFill>
          <a:ln w="15875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6780" y="2843784"/>
            <a:ext cx="1779971" cy="8321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Manager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6780" y="3657600"/>
            <a:ext cx="177997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사람이 판단·실행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4348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각 단계를  Salesforce · Customer 360 · Flow · Agentforce · Slack  이 자동으로 잇는다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074920"/>
            <a:ext cx="10911535" cy="822960"/>
          </a:xfrm>
          <a:prstGeom prst="roundRect">
            <a:avLst>
              <a:gd name="adj" fmla="val 10000"/>
            </a:avLst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029200"/>
            <a:ext cx="10911535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FFD9B4"/>
                </a:solidFill>
                <a:latin typeface="Pretendard"/>
                <a:ea typeface="Pretendard"/>
                <a:cs typeface="Pretendard"/>
              </a:rPr>
              <a:t>DATA</a:t>
            </a:r>
            <a:r>
              <a:rPr sz="1800" b="0" i="0">
                <a:solidFill>
                  <a:srgbClr val="8FA0B4"/>
                </a:solidFill>
                <a:latin typeface="Pretendard"/>
                <a:ea typeface="Pretendard"/>
                <a:cs typeface="Pretendard"/>
              </a:rPr>
              <a:t>   →   </a:t>
            </a:r>
            <a:r>
              <a:rPr sz="1800" b="1" i="0">
                <a:solidFill>
                  <a:srgbClr val="FFD9B4"/>
                </a:solidFill>
                <a:latin typeface="Pretendard"/>
                <a:ea typeface="Pretendard"/>
                <a:cs typeface="Pretendard"/>
              </a:rPr>
              <a:t>INSIGHT</a:t>
            </a:r>
            <a:r>
              <a:rPr sz="1800" b="0" i="0">
                <a:solidFill>
                  <a:srgbClr val="8FA0B4"/>
                </a:solidFill>
                <a:latin typeface="Pretendard"/>
                <a:ea typeface="Pretendard"/>
                <a:cs typeface="Pretendard"/>
              </a:rPr>
              <a:t>   →   </a:t>
            </a:r>
            <a:r>
              <a:rPr sz="1800" b="1" i="0">
                <a:solidFill>
                  <a:srgbClr val="FFD9B4"/>
                </a:solidFill>
                <a:latin typeface="Pretendard"/>
                <a:ea typeface="Pretendard"/>
                <a:cs typeface="Pretendard"/>
              </a:rPr>
              <a:t>ACTION</a:t>
            </a:r>
            <a:r>
              <a:rPr sz="1800" b="0" i="0">
                <a:solidFill>
                  <a:srgbClr val="8FA0B4"/>
                </a:solidFill>
                <a:latin typeface="Pretendard"/>
                <a:ea typeface="Pretendard"/>
                <a:cs typeface="Pretendard"/>
              </a:rPr>
              <a:t>   →   </a:t>
            </a:r>
            <a:r>
              <a:rPr sz="18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CHAPTER I ·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3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B2C에서 시작해 B2B로 이어지는 하나의 프로젝트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35024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286000"/>
            <a:ext cx="3393338" cy="13716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EC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340864"/>
            <a:ext cx="328361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C4E7E"/>
                </a:solidFill>
                <a:latin typeface="Pretendard"/>
                <a:ea typeface="Pretendard"/>
                <a:cs typeface="Pretendard"/>
              </a:rPr>
              <a:t>B2C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291840"/>
            <a:ext cx="328361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Fan Relationship · Fan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3418" y="2286000"/>
            <a:ext cx="3657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286000"/>
            <a:ext cx="3393338" cy="13716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EC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4042" y="2340864"/>
            <a:ext cx="328361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C4E7E"/>
                </a:solidFill>
                <a:latin typeface="Pretendard"/>
                <a:ea typeface="Pretendard"/>
                <a:cs typeface="Pretendard"/>
              </a:rPr>
              <a:t>Fan Insight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4042" y="3291840"/>
            <a:ext cx="328361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연결점 · Bridge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92516" y="2286000"/>
            <a:ext cx="36576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2286000"/>
            <a:ext cx="3393338" cy="137160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5875">
            <a:solidFill>
              <a:srgbClr val="AA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3140" y="2340864"/>
            <a:ext cx="3283610" cy="9692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55E41"/>
                </a:solidFill>
                <a:latin typeface="Pretendard"/>
                <a:ea typeface="Pretendard"/>
                <a:cs typeface="Pretendard"/>
              </a:rPr>
              <a:t>B2B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3140" y="3291840"/>
            <a:ext cx="328361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Partner Matching · Sponsorship Sales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11480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18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Feature Owner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4434840"/>
            <a:ext cx="262432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25696"/>
            <a:ext cx="26243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사라 · Fan 360 / Insight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2424" y="4434840"/>
            <a:ext cx="357073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92424" y="4425696"/>
            <a:ext cx="35707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승우 · Product · Quote · Campaign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091172" y="4434840"/>
            <a:ext cx="199339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91172" y="4425696"/>
            <a:ext cx="19933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은영 · Opportunity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212580" y="4434840"/>
            <a:ext cx="125730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12580" y="4425696"/>
            <a:ext cx="12573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혜준 · Lead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910327"/>
            <a:ext cx="262432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901183"/>
            <a:ext cx="262432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아론 · Account · Contact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1208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각자 자기 구간을 하나의 작은 Salesforce 프로젝트처럼 책임 — 하나의 시나리오로 연결.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E77C25"/>
                </a:solidFill>
                <a:latin typeface="Pretendard"/>
                <a:ea typeface="Pretendard"/>
                <a:cs typeface="Pretendard"/>
              </a:rPr>
              <a:t>CHAPTER II · DEMO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3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From Fan Action to Sponsorship Revenue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35024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40080" y="1444752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지금부터 보실 Demo의 전체 지도 — 10초 안에.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1043901" cy="11430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EC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980944"/>
            <a:ext cx="934173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C4E7E"/>
                </a:solidFill>
                <a:latin typeface="Pretendard"/>
                <a:ea typeface="Pretendard"/>
                <a:cs typeface="Pretendard"/>
              </a:rPr>
              <a:t>Fan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3703320"/>
            <a:ext cx="93417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QR 참여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83981" y="292608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49741" y="2926080"/>
            <a:ext cx="1043901" cy="11430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EC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4605" y="2980944"/>
            <a:ext cx="934173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C4E7E"/>
                </a:solidFill>
                <a:latin typeface="Pretendard"/>
                <a:ea typeface="Pretendard"/>
                <a:cs typeface="Pretendard"/>
              </a:rPr>
              <a:t>Fan 360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4605" y="3703320"/>
            <a:ext cx="93417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팬 상태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3643" y="292608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59403" y="2926080"/>
            <a:ext cx="1043901" cy="11430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EC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14267" y="2980944"/>
            <a:ext cx="934173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C4E7E"/>
                </a:solidFill>
                <a:latin typeface="Pretendard"/>
                <a:ea typeface="Pretendard"/>
                <a:cs typeface="Pretendard"/>
              </a:rPr>
              <a:t>Fan Insight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14267" y="3703320"/>
            <a:ext cx="93417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기회 발견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03305" y="292608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69065" y="2926080"/>
            <a:ext cx="1043901" cy="114300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5875">
            <a:solidFill>
              <a:srgbClr val="AA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23929" y="2980944"/>
            <a:ext cx="934173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55E41"/>
                </a:solidFill>
                <a:latin typeface="Pretendard"/>
                <a:ea typeface="Pretendard"/>
                <a:cs typeface="Pretendard"/>
              </a:rPr>
              <a:t>Partner</a:t>
            </a:r>
          </a:p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55E41"/>
                </a:solidFill>
                <a:latin typeface="Pretendard"/>
                <a:ea typeface="Pretendard"/>
                <a:cs typeface="Pretendard"/>
              </a:rPr>
              <a:t>Matching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23929" y="3703320"/>
            <a:ext cx="93417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기업 매칭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12967" y="292608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8727" y="2926080"/>
            <a:ext cx="1043901" cy="114300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5875">
            <a:solidFill>
              <a:srgbClr val="AA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3591" y="2980944"/>
            <a:ext cx="934173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55E41"/>
                </a:solidFill>
                <a:latin typeface="Pretendard"/>
                <a:ea typeface="Pretendard"/>
                <a:cs typeface="Pretendard"/>
              </a:rPr>
              <a:t>Lead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3591" y="3703320"/>
            <a:ext cx="93417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영업 대상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22629" y="292608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688389" y="2926080"/>
            <a:ext cx="1043901" cy="114300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5875">
            <a:solidFill>
              <a:srgbClr val="AA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43253" y="2980944"/>
            <a:ext cx="934173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55E41"/>
                </a:solidFill>
                <a:latin typeface="Pretendard"/>
                <a:ea typeface="Pretendard"/>
                <a:cs typeface="Pretendard"/>
              </a:rPr>
              <a:t>Opportunity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43253" y="3703320"/>
            <a:ext cx="93417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32291" y="292608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051" y="2926080"/>
            <a:ext cx="1043901" cy="114300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5875">
            <a:solidFill>
              <a:srgbClr val="AA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52915" y="2980944"/>
            <a:ext cx="934173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55E41"/>
                </a:solidFill>
                <a:latin typeface="Pretendard"/>
                <a:ea typeface="Pretendard"/>
                <a:cs typeface="Pretendard"/>
              </a:rPr>
              <a:t>AI Sales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2915" y="3703320"/>
            <a:ext cx="93417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가속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1953" y="292608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507713" y="2926080"/>
            <a:ext cx="1043901" cy="1143000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5875">
            <a:solidFill>
              <a:srgbClr val="AA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62577" y="2980944"/>
            <a:ext cx="934173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55E41"/>
                </a:solidFill>
                <a:latin typeface="Pretendard"/>
                <a:ea typeface="Pretendard"/>
                <a:cs typeface="Pretendard"/>
              </a:rPr>
              <a:t>Closed Won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2577" y="3703320"/>
            <a:ext cx="934173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매출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8920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B2C(파랑) 3단계  →  Fan Insight 연결점  →  B2B(초록) 5단계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457200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C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4200" b="1" i="0" spc="15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GAME DAY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00" b="0" i="0">
                <a:solidFill>
                  <a:srgbClr val="9DB0C4"/>
                </a:solidFill>
                <a:latin typeface="Pretendard"/>
                <a:ea typeface="Pretendard"/>
                <a:cs typeface="Pretendard"/>
              </a:rPr>
              <a:t>⚾  7회말 경기 진행 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97480"/>
            <a:ext cx="10911535" cy="2514600"/>
          </a:xfrm>
          <a:prstGeom prst="roundRect">
            <a:avLst>
              <a:gd name="adj" fmla="val 4000"/>
            </a:avLst>
          </a:prstGeom>
          <a:solidFill>
            <a:srgbClr val="0E2B3A"/>
          </a:solidFill>
          <a:ln w="19050">
            <a:solidFill>
              <a:srgbClr val="E77C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3240"/>
            <a:ext cx="7071055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오늘의 FAN EVENT — 문태양 선수 퀴즈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343400"/>
            <a:ext cx="707105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0" i="0">
                <a:solidFill>
                  <a:srgbClr val="FFD9B4"/>
                </a:solidFill>
                <a:latin typeface="Pretendard"/>
                <a:ea typeface="Pretendard"/>
                <a:cs typeface="Pretendard"/>
              </a:rPr>
              <a:t>QR을 스캔하고 퀴즈에 참여하세요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19895" y="2971800"/>
            <a:ext cx="1965960" cy="19659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1E27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19895" y="2971800"/>
            <a:ext cx="1965960" cy="1965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QR</a:t>
            </a:r>
          </a:p>
          <a:p>
            <a:pPr algn="ctr">
              <a:lnSpc>
                <a:spcPct val="130000"/>
              </a:lnSpc>
            </a:pPr>
            <a:r>
              <a:rPr sz="13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PLACEHOLDER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5486400"/>
            <a:ext cx="1889699" cy="548640"/>
          </a:xfrm>
          <a:prstGeom prst="roundRect">
            <a:avLst>
              <a:gd name="adj" fmla="val 8000"/>
            </a:avLst>
          </a:prstGeom>
          <a:solidFill>
            <a:srgbClr val="F5F1EA"/>
          </a:solidFill>
          <a:ln w="1587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5486400"/>
            <a:ext cx="17799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관객 QR 참여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9779" y="54864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95539" y="5486400"/>
            <a:ext cx="1889699" cy="548640"/>
          </a:xfrm>
          <a:prstGeom prst="roundRect">
            <a:avLst>
              <a:gd name="adj" fmla="val 8000"/>
            </a:avLst>
          </a:prstGeom>
          <a:solidFill>
            <a:srgbClr val="F5F1EA"/>
          </a:solidFill>
          <a:ln w="1587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50403" y="5486400"/>
            <a:ext cx="17799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Quiz Entry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85238" y="54864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50998" y="5486400"/>
            <a:ext cx="1889699" cy="548640"/>
          </a:xfrm>
          <a:prstGeom prst="roundRect">
            <a:avLst>
              <a:gd name="adj" fmla="val 8000"/>
            </a:avLst>
          </a:prstGeom>
          <a:solidFill>
            <a:srgbClr val="F5F1EA"/>
          </a:solidFill>
          <a:ln w="1587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05862" y="5486400"/>
            <a:ext cx="17799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Fan Activity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0697" y="54864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457" y="5486400"/>
            <a:ext cx="1889699" cy="548640"/>
          </a:xfrm>
          <a:prstGeom prst="roundRect">
            <a:avLst>
              <a:gd name="adj" fmla="val 8000"/>
            </a:avLst>
          </a:prstGeom>
          <a:solidFill>
            <a:srgbClr val="F5F1EA"/>
          </a:solidFill>
          <a:ln w="1587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61321" y="5486400"/>
            <a:ext cx="17799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Salesforce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6156" y="5486400"/>
            <a:ext cx="3657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61916" y="5486400"/>
            <a:ext cx="1889699" cy="548640"/>
          </a:xfrm>
          <a:prstGeom prst="roundRect">
            <a:avLst>
              <a:gd name="adj" fmla="val 8000"/>
            </a:avLst>
          </a:prstGeom>
          <a:solidFill>
            <a:srgbClr val="F5F1EA"/>
          </a:solidFill>
          <a:ln w="1587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16780" y="5486400"/>
            <a:ext cx="177997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Fan 360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7E92A6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7E92A6"/>
                </a:solidFill>
                <a:latin typeface="Pretendard"/>
                <a:ea typeface="Pretendard"/>
                <a:cs typeface="Pretendard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2F6FB0"/>
                </a:solidFill>
                <a:latin typeface="Pretendard"/>
                <a:ea typeface="Pretendard"/>
                <a:cs typeface="Pretendard"/>
              </a:rPr>
              <a:t>CHAPTER II · DEMO — B2C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89259" y="329184"/>
            <a:ext cx="56235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89259" y="310896"/>
            <a:ext cx="56235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768096"/>
            <a:ext cx="237286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5" y="85039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5" y="822959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768096"/>
            <a:ext cx="186994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김매니저  </a:t>
            </a: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FRM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75282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우리 팬은 누구인가?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56816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231136"/>
            <a:ext cx="7345375" cy="3867911"/>
          </a:xfrm>
          <a:prstGeom prst="roundRect">
            <a:avLst>
              <a:gd name="adj" fmla="val 3000"/>
            </a:avLst>
          </a:prstGeom>
          <a:solidFill>
            <a:srgbClr val="FBFAF8"/>
          </a:solidFill>
          <a:ln w="15875">
            <a:solidFill>
              <a:srgbClr val="DAD3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598163"/>
            <a:ext cx="69796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 spc="160">
                <a:solidFill>
                  <a:srgbClr val="8A94A3"/>
                </a:solidFill>
                <a:latin typeface="Pretendard"/>
                <a:ea typeface="Pretendard"/>
                <a:cs typeface="Pretendard"/>
              </a:rPr>
              <a:t>SCREENSHOT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000500"/>
            <a:ext cx="6705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6B7686"/>
                </a:solidFill>
                <a:latin typeface="Pretendard"/>
                <a:ea typeface="Pretendard"/>
                <a:cs typeface="Pretendard"/>
              </a:rPr>
              <a:t>[ SCREENSHOT ]</a:t>
            </a:r>
          </a:p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6B7686"/>
                </a:solidFill>
                <a:latin typeface="Pretendard"/>
                <a:ea typeface="Pretendard"/>
                <a:cs typeface="Pretendard"/>
              </a:rPr>
              <a:t>Fan 360  →  Segment  →  Recommendation Hub 핵심 화면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6935" y="227685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16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6935" y="2587751"/>
            <a:ext cx="104698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6935" y="2578608"/>
            <a:ext cx="10469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Fan 360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71939" y="2587751"/>
            <a:ext cx="104698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1939" y="2578608"/>
            <a:ext cx="10469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Segment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6935" y="3063239"/>
            <a:ext cx="220370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6935" y="3054096"/>
            <a:ext cx="22037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Recommendation Hub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96935" y="3630168"/>
            <a:ext cx="3154680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96935" y="38130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AI 역할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팬 이해 지원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6935" y="4160520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Value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Fan Understanding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2F6FB0"/>
                </a:solidFill>
                <a:latin typeface="Pretendard"/>
                <a:ea typeface="Pretendard"/>
                <a:cs typeface="Pretendard"/>
              </a:rPr>
              <a:t>CHAPTER II · DEMO — B2C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5" y="3291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5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310896"/>
            <a:ext cx="1234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DEMO 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768096"/>
            <a:ext cx="237286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5" y="85039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5" y="822959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768096"/>
            <a:ext cx="186994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김매니저  </a:t>
            </a: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FRM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75282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각 팬에게 어떻게 다르게 행동할까?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56816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231136"/>
            <a:ext cx="7345375" cy="3867911"/>
          </a:xfrm>
          <a:prstGeom prst="roundRect">
            <a:avLst>
              <a:gd name="adj" fmla="val 3000"/>
            </a:avLst>
          </a:prstGeom>
          <a:solidFill>
            <a:srgbClr val="1B1D22"/>
          </a:solidFill>
          <a:ln w="15875">
            <a:solidFill>
              <a:srgbClr val="3A3D4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83583" y="3178362"/>
            <a:ext cx="658368" cy="658368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C6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3311" y="3178362"/>
            <a:ext cx="6217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0" i="0">
                <a:solidFill>
                  <a:srgbClr val="C6CAD2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42450"/>
            <a:ext cx="6979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 spc="160">
                <a:solidFill>
                  <a:srgbClr val="AEB3BD"/>
                </a:solidFill>
                <a:latin typeface="Pretendard"/>
                <a:ea typeface="Pretendard"/>
                <a:cs typeface="Pretendard"/>
              </a:rPr>
              <a:t>DEMO VIDEO — 재생 영역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29241"/>
            <a:ext cx="6613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 i="0">
                <a:solidFill>
                  <a:srgbClr val="E7E9EE"/>
                </a:solidFill>
                <a:latin typeface="Pretendard"/>
                <a:ea typeface="Pretendard"/>
                <a:cs typeface="Pretendard"/>
              </a:rPr>
              <a:t>Target Fan 확인  →  AI 개인화 메시지 생성  →  Review  →  발송</a:t>
            </a:r>
          </a:p>
          <a:p>
            <a:pPr algn="ctr">
              <a:lnSpc>
                <a:spcPct val="130000"/>
              </a:lnSpc>
            </a:pPr>
            <a:r>
              <a:rPr sz="1250" b="1" i="0">
                <a:solidFill>
                  <a:srgbClr val="E7E9EE"/>
                </a:solidFill>
                <a:latin typeface="Pretendard"/>
                <a:ea typeface="Pretendard"/>
                <a:cs typeface="Pretendard"/>
              </a:rPr>
              <a:t>(약 80–90초)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6935" y="227685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16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6935" y="2587751"/>
            <a:ext cx="272948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6935" y="2578608"/>
            <a:ext cx="27294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AI Personalized Message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96935" y="3154679"/>
            <a:ext cx="3154680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96935" y="3337559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AI 역할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Personalize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6935" y="3685031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Value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Personalized Fan Engagement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0E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0E6E77"/>
                </a:solidFill>
                <a:latin typeface="Pretendard"/>
                <a:ea typeface="Pretendard"/>
                <a:cs typeface="Pretendard"/>
              </a:rPr>
              <a:t>CHAPTER II · DEMO — BRIDGE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5" y="3291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0E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310896"/>
            <a:ext cx="1234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TRANSITION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8368"/>
            <a:ext cx="10911535" cy="16824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팬의 관심사가</a:t>
            </a:r>
          </a:p>
          <a:p>
            <a:pPr algn="l">
              <a:lnSpc>
                <a:spcPct val="114000"/>
              </a:lnSpc>
            </a:pPr>
            <a:r>
              <a:rPr sz="29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기업을 찾는 근거가 된다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1901952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" y="2880360"/>
            <a:ext cx="4907127" cy="1874519"/>
          </a:xfrm>
          <a:prstGeom prst="roundRect">
            <a:avLst>
              <a:gd name="adj" fmla="val 7000"/>
            </a:avLst>
          </a:prstGeom>
          <a:solidFill>
            <a:srgbClr val="EAF1F8"/>
          </a:solidFill>
          <a:ln w="15875">
            <a:solidFill>
              <a:srgbClr val="AEC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118104"/>
            <a:ext cx="4285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40">
                <a:solidFill>
                  <a:srgbClr val="2F6FB0"/>
                </a:solidFill>
                <a:latin typeface="Pretendard"/>
                <a:ea typeface="Pretendard"/>
                <a:cs typeface="Pretendard"/>
              </a:rPr>
              <a:t>B2C · 여기까지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3538728"/>
            <a:ext cx="399272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C4E7E"/>
                </a:solidFill>
                <a:latin typeface="Pretendard"/>
                <a:ea typeface="Pretendard"/>
                <a:cs typeface="Pretendard"/>
              </a:rPr>
              <a:t>Fan Data</a:t>
            </a:r>
            <a:r>
              <a:rPr sz="14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1400" b="1" i="0">
                <a:solidFill>
                  <a:srgbClr val="1C4E7E"/>
                </a:solidFill>
                <a:latin typeface="Pretendard"/>
                <a:ea typeface="Pretendard"/>
                <a:cs typeface="Pretendard"/>
              </a:rPr>
              <a:t>Fan 360</a:t>
            </a:r>
            <a:r>
              <a:rPr sz="14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1400" b="1" i="0">
                <a:solidFill>
                  <a:srgbClr val="1C4E7E"/>
                </a:solidFill>
                <a:latin typeface="Pretendard"/>
                <a:ea typeface="Pretendard"/>
                <a:cs typeface="Pretendard"/>
              </a:rPr>
              <a:t>Fan Insight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44487" y="2880360"/>
            <a:ext cx="4907127" cy="1874519"/>
          </a:xfrm>
          <a:prstGeom prst="roundRect">
            <a:avLst>
              <a:gd name="adj" fmla="val 7000"/>
            </a:avLst>
          </a:prstGeom>
          <a:solidFill>
            <a:srgbClr val="E7F2EC"/>
          </a:solidFill>
          <a:ln w="15875">
            <a:solidFill>
              <a:srgbClr val="AA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5383" y="3118104"/>
            <a:ext cx="42853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1" i="0" spc="140">
                <a:solidFill>
                  <a:srgbClr val="1E7F58"/>
                </a:solidFill>
                <a:latin typeface="Pretendard"/>
                <a:ea typeface="Pretendard"/>
                <a:cs typeface="Pretendard"/>
              </a:rPr>
              <a:t>B2B · 여기부터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11415" y="3538728"/>
            <a:ext cx="4084167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35000"/>
              </a:lnSpc>
            </a:pPr>
            <a:r>
              <a:rPr sz="1400" b="1" i="0">
                <a:solidFill>
                  <a:srgbClr val="155E41"/>
                </a:solidFill>
                <a:latin typeface="Pretendard"/>
                <a:ea typeface="Pretendard"/>
                <a:cs typeface="Pretendard"/>
              </a:rPr>
              <a:t>Partner Matching</a:t>
            </a:r>
            <a:r>
              <a:rPr sz="14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  →  </a:t>
            </a:r>
            <a:r>
              <a:rPr sz="1400" b="1" i="0">
                <a:solidFill>
                  <a:srgbClr val="155E41"/>
                </a:solidFill>
                <a:latin typeface="Pretendard"/>
                <a:ea typeface="Pretendard"/>
                <a:cs typeface="Pretendard"/>
              </a:rPr>
              <a:t>Sponsorship Sales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35727" y="3415284"/>
            <a:ext cx="1920240" cy="8046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2225">
            <a:solidFill>
              <a:srgbClr val="0B2A4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35727" y="3396996"/>
            <a:ext cx="19202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5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FAN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120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B85E12"/>
                </a:solidFill>
                <a:latin typeface="Pretendard"/>
                <a:ea typeface="Pretendard"/>
                <a:cs typeface="Pretendard"/>
              </a:rPr>
              <a:t>20·30대 여성 팬 증가  ·  뷰티 관심 Signal        →        Partner Matching의 근거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1E7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1E7F58"/>
                </a:solidFill>
                <a:latin typeface="Pretendard"/>
                <a:ea typeface="Pretendard"/>
                <a:cs typeface="Pretendard"/>
              </a:rPr>
              <a:t>CHAPTER II · DEMO — B2B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93247" y="329184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C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3247" y="310896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768096"/>
            <a:ext cx="489204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5" y="85039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5" y="822959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768096"/>
            <a:ext cx="438912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김매니저 → 이매니저  </a:t>
            </a: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FRM → Sponsorship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75282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팬 데이터를 어떻게</a:t>
            </a:r>
          </a:p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B2B 영업 기회로 연결할까?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523744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798064"/>
            <a:ext cx="7345375" cy="3300984"/>
          </a:xfrm>
          <a:prstGeom prst="roundRect">
            <a:avLst>
              <a:gd name="adj" fmla="val 3000"/>
            </a:avLst>
          </a:prstGeom>
          <a:solidFill>
            <a:srgbClr val="FBEEEC"/>
          </a:solidFill>
          <a:ln w="19050">
            <a:solidFill>
              <a:srgbClr val="E0A6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7" y="2999232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C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980944"/>
            <a:ext cx="8961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●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881628"/>
            <a:ext cx="69796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 spc="160">
                <a:solidFill>
                  <a:srgbClr val="B23A35"/>
                </a:solidFill>
                <a:latin typeface="Pretendard"/>
                <a:ea typeface="Pretendard"/>
                <a:cs typeface="Pretendard"/>
              </a:rPr>
              <a:t>LIVE — 실제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4283964"/>
            <a:ext cx="6705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8A3B37"/>
                </a:solidFill>
                <a:latin typeface="Pretendard"/>
                <a:ea typeface="Pretendard"/>
                <a:cs typeface="Pretendard"/>
              </a:rPr>
              <a:t>Monthly Fan Insight Letter 확인  →  Slack Agent 분석 요청  →  적합한 Sponsorship 방향 탐색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6935" y="28437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16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6935" y="3154679"/>
            <a:ext cx="304495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6935" y="3145536"/>
            <a:ext cx="304495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Monthly Fan Insight Letter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6935" y="3630168"/>
            <a:ext cx="146761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6935" y="3621024"/>
            <a:ext cx="146761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Slack Agent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96935" y="4197096"/>
            <a:ext cx="3154680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96935" y="437997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AI 역할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Analyze &amp; Discover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6935" y="47274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Value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B2C Data → B2B Sales Opportunity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1E7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1E7F58"/>
                </a:solidFill>
                <a:latin typeface="Pretendard"/>
                <a:ea typeface="Pretendard"/>
                <a:cs typeface="Pretendard"/>
              </a:rPr>
              <a:t>CHAPTER II · DEMO — B2B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5" y="3291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8A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310896"/>
            <a:ext cx="1234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FORMAT TBD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768096"/>
            <a:ext cx="4229100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5" y="85039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5" y="822959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768096"/>
            <a:ext cx="372618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이매니저  </a:t>
            </a: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Sponsorship Sales 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75282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이 팬덤과 가장 잘 맞는 기업은?</a:t>
            </a:r>
          </a:p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— 왜 이 기업인가?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523744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798064"/>
            <a:ext cx="7345375" cy="3300984"/>
          </a:xfrm>
          <a:prstGeom prst="roundRect">
            <a:avLst>
              <a:gd name="adj" fmla="val 3000"/>
            </a:avLst>
          </a:prstGeom>
          <a:solidFill>
            <a:srgbClr val="FBF3E1"/>
          </a:solidFill>
          <a:ln w="19050">
            <a:solidFill>
              <a:srgbClr val="E0C5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81628"/>
            <a:ext cx="69796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 spc="160">
                <a:solidFill>
                  <a:srgbClr val="997414"/>
                </a:solidFill>
                <a:latin typeface="Pretendard"/>
                <a:ea typeface="Pretendard"/>
                <a:cs typeface="Pretendard"/>
              </a:rPr>
              <a:t>FORMAT TBD — 표현 방식 미정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283964"/>
            <a:ext cx="6705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8A6A18"/>
                </a:solidFill>
                <a:latin typeface="Pretendard"/>
                <a:ea typeface="Pretendard"/>
                <a:cs typeface="Pretendard"/>
              </a:rPr>
              <a:t>[ FORMAT TBD ]</a:t>
            </a:r>
          </a:p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8A6A18"/>
                </a:solidFill>
                <a:latin typeface="Pretendard"/>
                <a:ea typeface="Pretendard"/>
                <a:cs typeface="Pretendard"/>
              </a:rPr>
              <a:t>Fan Insight  →  Fan Fit  →  Partner Candidate  →  d'Alba  →  Sales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5532120"/>
            <a:ext cx="6705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0">
                <a:solidFill>
                  <a:srgbClr val="997414"/>
                </a:solidFill>
                <a:latin typeface="Pretendard"/>
                <a:ea typeface="Pretendard"/>
                <a:cs typeface="Pretendard"/>
              </a:rPr>
              <a:t>Demo순서 이미지에 S4 미표시 — PPT / VIDEO / LIVE 중 미선택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6935" y="28437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16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6935" y="3154679"/>
            <a:ext cx="104698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6935" y="3145536"/>
            <a:ext cx="104698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Fan Fit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71939" y="3154679"/>
            <a:ext cx="1677924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1939" y="3145536"/>
            <a:ext cx="167792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Segment 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96935" y="3630168"/>
            <a:ext cx="13624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96935" y="3621024"/>
            <a:ext cx="13624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Lead Score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96935" y="4197096"/>
            <a:ext cx="3154680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396935" y="437997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AI 역할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Match &amp; Explain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96935" y="47274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Value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데이터 기반 파트너 발굴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1E7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1E7F58"/>
                </a:solidFill>
                <a:latin typeface="Pretendard"/>
                <a:ea typeface="Pretendard"/>
                <a:cs typeface="Pretendard"/>
              </a:rPr>
              <a:t>CHAPTER II · DEMO — B2B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933127" y="329184"/>
            <a:ext cx="1618488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33127" y="310896"/>
            <a:ext cx="161848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PPT + 5s 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768096"/>
            <a:ext cx="43616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5" y="85039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5" y="822959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768096"/>
            <a:ext cx="385876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이매니저 / d'Alba  </a:t>
            </a: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Sponsorship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75282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Sponsor 후보를 어떻게</a:t>
            </a:r>
          </a:p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실제 Deal로 발전시킬까?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523744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798064"/>
            <a:ext cx="7345375" cy="3300984"/>
          </a:xfrm>
          <a:prstGeom prst="roundRect">
            <a:avLst>
              <a:gd name="adj" fmla="val 3000"/>
            </a:avLst>
          </a:prstGeom>
          <a:solidFill>
            <a:srgbClr val="FBFAF8"/>
          </a:solidFill>
          <a:ln w="15875">
            <a:solidFill>
              <a:srgbClr val="DAD3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81628"/>
            <a:ext cx="69796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 spc="160">
                <a:solidFill>
                  <a:srgbClr val="8A94A3"/>
                </a:solidFill>
                <a:latin typeface="Pretendard"/>
                <a:ea typeface="Pretendard"/>
                <a:cs typeface="Pretendard"/>
              </a:rPr>
              <a:t>SCREENSHOT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283964"/>
            <a:ext cx="6705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6B7686"/>
                </a:solidFill>
                <a:latin typeface="Pretendard"/>
                <a:ea typeface="Pretendard"/>
                <a:cs typeface="Pretendard"/>
              </a:rPr>
              <a:t>[ SCREENSHOT  +  ▶ 5s ]</a:t>
            </a:r>
          </a:p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6B7686"/>
                </a:solidFill>
                <a:latin typeface="Pretendard"/>
                <a:ea typeface="Pretendard"/>
                <a:cs typeface="Pretendard"/>
              </a:rPr>
              <a:t>Tableau Next Dashboard  →  Lead / Lead Score  →  Account (AI Enrichment)  →  d'Alba OPP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6935" y="28437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16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6935" y="3154679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6935" y="3145536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Tableau Next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97719" y="3154679"/>
            <a:ext cx="136245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97719" y="3145536"/>
            <a:ext cx="136245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Lead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96935" y="3630168"/>
            <a:ext cx="251917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6935" y="3621024"/>
            <a:ext cx="25191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Account AI Enrichment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396935" y="4197096"/>
            <a:ext cx="3154680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96935" y="437997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AI 역할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Analyze / Score / Enrich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96935" y="47274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Value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Sales Prioritization · Productivity · Data Quality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1E7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1E7F58"/>
                </a:solidFill>
                <a:latin typeface="Pretendard"/>
                <a:ea typeface="Pretendard"/>
                <a:cs typeface="Pretendard"/>
              </a:rPr>
              <a:t>CHAPTER II · DEMO — B2B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5" y="3291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5A3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310896"/>
            <a:ext cx="1234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DEMO VIDEO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768096"/>
            <a:ext cx="4096511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5" y="85039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5" y="822959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768096"/>
            <a:ext cx="359359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이매니저 / 김하나  </a:t>
            </a: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Sales / d'Alba 담당자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75282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고객은 무엇을 말했는가?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56816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231136"/>
            <a:ext cx="7345375" cy="3867911"/>
          </a:xfrm>
          <a:prstGeom prst="roundRect">
            <a:avLst>
              <a:gd name="adj" fmla="val 3000"/>
            </a:avLst>
          </a:prstGeom>
          <a:solidFill>
            <a:srgbClr val="1B1D22"/>
          </a:solidFill>
          <a:ln w="15875">
            <a:solidFill>
              <a:srgbClr val="3A3D44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83583" y="3178362"/>
            <a:ext cx="658368" cy="658368"/>
          </a:xfrm>
          <a:prstGeom prst="roundRect">
            <a:avLst>
              <a:gd name="adj" fmla="val 50000"/>
            </a:avLst>
          </a:prstGeom>
          <a:noFill/>
          <a:ln w="22225">
            <a:solidFill>
              <a:srgbClr val="C6CA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93311" y="3178362"/>
            <a:ext cx="6217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900" b="0" i="0">
                <a:solidFill>
                  <a:srgbClr val="C6CAD2"/>
                </a:solidFill>
                <a:latin typeface="Pretendard"/>
                <a:ea typeface="Pretendard"/>
                <a:cs typeface="Pretendard"/>
              </a:rPr>
              <a:t>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242450"/>
            <a:ext cx="697961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 spc="160">
                <a:solidFill>
                  <a:srgbClr val="AEB3BD"/>
                </a:solidFill>
                <a:latin typeface="Pretendard"/>
                <a:ea typeface="Pretendard"/>
                <a:cs typeface="Pretendard"/>
              </a:rPr>
              <a:t>DEMO VIDEO — 재생 영역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629241"/>
            <a:ext cx="6613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1" i="0">
                <a:solidFill>
                  <a:srgbClr val="E7E9EE"/>
                </a:solidFill>
                <a:latin typeface="Pretendard"/>
                <a:ea typeface="Pretendard"/>
                <a:cs typeface="Pretendard"/>
              </a:rPr>
              <a:t>고객 Meeting / Activity  →  기록  →  AI 분석  →  Summary / Signal</a:t>
            </a:r>
          </a:p>
          <a:p>
            <a:pPr algn="ctr">
              <a:lnSpc>
                <a:spcPct val="130000"/>
              </a:lnSpc>
            </a:pPr>
            <a:r>
              <a:rPr sz="1250" b="1" i="0">
                <a:solidFill>
                  <a:srgbClr val="E7E9EE"/>
                </a:solidFill>
                <a:latin typeface="Pretendard"/>
                <a:ea typeface="Pretendard"/>
                <a:cs typeface="Pretendard"/>
              </a:rPr>
              <a:t>(약 3분)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6935" y="227685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16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6935" y="2587751"/>
            <a:ext cx="251917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6935" y="2578608"/>
            <a:ext cx="25191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Activity Intelligence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96935" y="3154679"/>
            <a:ext cx="3154680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96935" y="3337559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AI 역할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Understand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6935" y="3685031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Value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Activity 자산화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1E7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1E7F58"/>
                </a:solidFill>
                <a:latin typeface="Pretendard"/>
                <a:ea typeface="Pretendard"/>
                <a:cs typeface="Pretendard"/>
              </a:rPr>
              <a:t>CHAPTER II · DEMO — B2B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893247" y="329184"/>
            <a:ext cx="658368" cy="310896"/>
          </a:xfrm>
          <a:prstGeom prst="roundRect">
            <a:avLst>
              <a:gd name="adj" fmla="val 50000"/>
            </a:avLst>
          </a:prstGeom>
          <a:solidFill>
            <a:srgbClr val="C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93247" y="310896"/>
            <a:ext cx="6583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768096"/>
            <a:ext cx="43616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5" y="85039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5" y="822959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768096"/>
            <a:ext cx="385876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이매니저 / d'Alba  </a:t>
            </a: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Sponsorship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7528255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그래서 무엇을 제안할까?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1956816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231136"/>
            <a:ext cx="7345375" cy="3867911"/>
          </a:xfrm>
          <a:prstGeom prst="roundRect">
            <a:avLst>
              <a:gd name="adj" fmla="val 3000"/>
            </a:avLst>
          </a:prstGeom>
          <a:solidFill>
            <a:srgbClr val="FBEEEC"/>
          </a:solidFill>
          <a:ln w="19050">
            <a:solidFill>
              <a:srgbClr val="E0A6A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7" y="2432304"/>
            <a:ext cx="896112" cy="310896"/>
          </a:xfrm>
          <a:prstGeom prst="roundRect">
            <a:avLst>
              <a:gd name="adj" fmla="val 50000"/>
            </a:avLst>
          </a:prstGeom>
          <a:solidFill>
            <a:srgbClr val="C03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2414016"/>
            <a:ext cx="8961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● 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3598163"/>
            <a:ext cx="69796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 spc="160">
                <a:solidFill>
                  <a:srgbClr val="B23A35"/>
                </a:solidFill>
                <a:latin typeface="Pretendard"/>
                <a:ea typeface="Pretendard"/>
                <a:cs typeface="Pretendard"/>
              </a:rPr>
              <a:t>LIVE — 실제 화면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19" y="4000500"/>
            <a:ext cx="6705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8A3B37"/>
                </a:solidFill>
                <a:latin typeface="Pretendard"/>
                <a:ea typeface="Pretendard"/>
                <a:cs typeface="Pretendard"/>
              </a:rPr>
              <a:t>[ LIVE — Opportunity Agent ]</a:t>
            </a:r>
          </a:p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8A3B37"/>
                </a:solidFill>
                <a:latin typeface="Pretendard"/>
                <a:ea typeface="Pretendard"/>
                <a:cs typeface="Pretendard"/>
              </a:rPr>
              <a:t>과거 유사 사례 + 현재 OPP + 팬 데이터 + 고객 Activity  →  제안 방향 / Package / Product + 근거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6935" y="227685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16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6935" y="2587751"/>
            <a:ext cx="209854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6935" y="2578608"/>
            <a:ext cx="20985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Opportunity Agent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96935" y="3154679"/>
            <a:ext cx="3154680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96935" y="3337559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AI 역할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Reason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6935" y="3685031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Value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Context 기반 Sales Decision Support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1E7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1E7F58"/>
                </a:solidFill>
                <a:latin typeface="Pretendard"/>
                <a:ea typeface="Pretendard"/>
                <a:cs typeface="Pretendard"/>
              </a:rPr>
              <a:t>CHAPTER II · DEMO — B2B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89259" y="329184"/>
            <a:ext cx="562356" cy="310896"/>
          </a:xfrm>
          <a:prstGeom prst="roundRect">
            <a:avLst>
              <a:gd name="adj" fmla="val 50000"/>
            </a:avLst>
          </a:prstGeom>
          <a:solidFill>
            <a:srgbClr val="2F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89259" y="310896"/>
            <a:ext cx="56235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768096"/>
            <a:ext cx="4096511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5" y="85039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5" y="822959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768096"/>
            <a:ext cx="3593591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이매니저 / 김하나  </a:t>
            </a: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Sales / d'Alba 담당자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75282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고객의 변화에</a:t>
            </a:r>
          </a:p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어떻게 대응할까?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523744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798064"/>
            <a:ext cx="7345375" cy="3300984"/>
          </a:xfrm>
          <a:prstGeom prst="roundRect">
            <a:avLst>
              <a:gd name="adj" fmla="val 3000"/>
            </a:avLst>
          </a:prstGeom>
          <a:solidFill>
            <a:srgbClr val="FBFAF8"/>
          </a:solidFill>
          <a:ln w="15875">
            <a:solidFill>
              <a:srgbClr val="DAD3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81628"/>
            <a:ext cx="69796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 spc="160">
                <a:solidFill>
                  <a:srgbClr val="8A94A3"/>
                </a:solidFill>
                <a:latin typeface="Pretendard"/>
                <a:ea typeface="Pretendard"/>
                <a:cs typeface="Pretendard"/>
              </a:rPr>
              <a:t>SCREENSHOT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283964"/>
            <a:ext cx="6705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6B7686"/>
                </a:solidFill>
                <a:latin typeface="Pretendard"/>
                <a:ea typeface="Pretendard"/>
                <a:cs typeface="Pretendard"/>
              </a:rPr>
              <a:t>[ SCREENSHOT ]</a:t>
            </a:r>
          </a:p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6B7686"/>
                </a:solidFill>
                <a:latin typeface="Pretendard"/>
                <a:ea typeface="Pretendard"/>
                <a:cs typeface="Pretendard"/>
              </a:rPr>
              <a:t>새 고객 Activity / 상황  →  AI 선제 분석  →  Negotiation 대응 / 수정안 + 근거  →  Closed Won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6935" y="28437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16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96935" y="3154679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96935" y="3145536"/>
            <a:ext cx="157276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Proactive AI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96935" y="3630168"/>
            <a:ext cx="2519172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96935" y="3621024"/>
            <a:ext cx="251917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Negotiation Assistant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96935" y="4197096"/>
            <a:ext cx="3154680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396935" y="437997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AI 역할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Act Proactively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6935" y="47274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Value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Proactive Selling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1E7F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1E7F58"/>
                </a:solidFill>
                <a:latin typeface="Pretendard"/>
                <a:ea typeface="Pretendard"/>
                <a:cs typeface="Pretendard"/>
              </a:rPr>
              <a:t>CHAPTER II · DEMO — B2B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317175" y="329184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8A6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17175" y="310896"/>
            <a:ext cx="123444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 spc="10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FORMAT TBD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768096"/>
            <a:ext cx="4361688" cy="43891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22375" y="850392"/>
            <a:ext cx="274320" cy="27432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9525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5" y="822959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768096"/>
            <a:ext cx="3858768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이매니저 / d'Alba  </a:t>
            </a: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Sponsorship Sales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389888"/>
            <a:ext cx="7528255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1년 후, 관계를</a:t>
            </a:r>
          </a:p>
          <a:p>
            <a:pPr algn="l">
              <a:lnSpc>
                <a:spcPct val="114000"/>
              </a:lnSpc>
            </a:pPr>
            <a:r>
              <a:rPr sz="28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어떻게 다음 매출로 연결할까?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0080" y="2523744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40080" y="2798064"/>
            <a:ext cx="7345375" cy="3300984"/>
          </a:xfrm>
          <a:prstGeom prst="roundRect">
            <a:avLst>
              <a:gd name="adj" fmla="val 3000"/>
            </a:avLst>
          </a:prstGeom>
          <a:solidFill>
            <a:srgbClr val="FBF3E1"/>
          </a:solidFill>
          <a:ln w="19050">
            <a:solidFill>
              <a:srgbClr val="E0C5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59" y="3881628"/>
            <a:ext cx="697961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 spc="160">
                <a:solidFill>
                  <a:srgbClr val="997414"/>
                </a:solidFill>
                <a:latin typeface="Pretendard"/>
                <a:ea typeface="Pretendard"/>
                <a:cs typeface="Pretendard"/>
              </a:rPr>
              <a:t>FORMAT TBD — 표현 방식 미정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19" y="4283964"/>
            <a:ext cx="670529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8A6A18"/>
                </a:solidFill>
                <a:latin typeface="Pretendard"/>
                <a:ea typeface="Pretendard"/>
                <a:cs typeface="Pretendard"/>
              </a:rPr>
              <a:t>[ FORMAT TBD ]</a:t>
            </a:r>
          </a:p>
          <a:p>
            <a:pPr algn="ctr">
              <a:lnSpc>
                <a:spcPct val="125000"/>
              </a:lnSpc>
            </a:pPr>
            <a:r>
              <a:rPr sz="1300" b="1" i="0">
                <a:solidFill>
                  <a:srgbClr val="8A6A18"/>
                </a:solidFill>
                <a:latin typeface="Pretendard"/>
                <a:ea typeface="Pretendard"/>
                <a:cs typeface="Pretendard"/>
              </a:rPr>
              <a:t>‘1년 후’  →  단년 계약 종료 임박  →  Partnership Plan 확인  →  d'Alba Upsell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19" y="5532120"/>
            <a:ext cx="6705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50" b="0" i="0">
                <a:solidFill>
                  <a:srgbClr val="997414"/>
                </a:solidFill>
                <a:latin typeface="Pretendard"/>
                <a:ea typeface="Pretendard"/>
                <a:cs typeface="Pretendard"/>
              </a:rPr>
              <a:t>AI 역할·기능·표현 방식 모두 미정 — 팀 확정 필요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6935" y="2843784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00" b="1" i="0" spc="16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핵심 기능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96935" y="3154679"/>
            <a:ext cx="283464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6935" y="3145536"/>
            <a:ext cx="2834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Partnership Plan (논의 필요)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96935" y="3630168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6935" y="3621024"/>
            <a:ext cx="17830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Upsell (논의 필요)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96935" y="4197096"/>
            <a:ext cx="3154680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96935" y="4379976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AI 역할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미정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6935" y="4727448"/>
            <a:ext cx="3154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Value   </a:t>
            </a:r>
            <a:r>
              <a:rPr sz="1200" b="0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Renewal / Upsell Revenue Expansion (방향)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0E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0E6E77"/>
                </a:solidFill>
                <a:latin typeface="Pretendard"/>
                <a:ea typeface="Pretendard"/>
                <a:cs typeface="Pretendard"/>
              </a:rPr>
              <a:t>CHAPTER III · GLOBAL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3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우리가 이렇게 설계한 이유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35024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920240"/>
            <a:ext cx="345429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12848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0E6E77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43200"/>
            <a:ext cx="29056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spc="6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STANDARD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10128"/>
            <a:ext cx="29056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표준 Salesforce를 먼저 활용하고, 필요한 부분만 Custom.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920240"/>
            <a:ext cx="345429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43018" y="2212848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0E6E77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3018" y="2743200"/>
            <a:ext cx="29056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spc="6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ONE CUSTOMER 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3018" y="3310128"/>
            <a:ext cx="29056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Fan 360을 중심으로 B2C와 B2B가 같은 데이터를 활용.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920240"/>
            <a:ext cx="3454298" cy="2286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71636" y="2212848"/>
            <a:ext cx="290565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2400" b="1" i="0">
                <a:solidFill>
                  <a:srgbClr val="0E6E77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1636" y="2743200"/>
            <a:ext cx="29056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1" i="0" spc="6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AI + AUTOMATION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1636" y="3310128"/>
            <a:ext cx="290565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반복은 자동화, AI는 제안, 최종 판단은 사람이 한다.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526280"/>
            <a:ext cx="10911535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1" i="0" spc="18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전체 흐름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828032"/>
            <a:ext cx="18896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4944" y="4828032"/>
            <a:ext cx="177997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Fan Activity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9779" y="4828032"/>
            <a:ext cx="365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95539" y="4828032"/>
            <a:ext cx="18896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950403" y="4828032"/>
            <a:ext cx="177997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5238" y="4828032"/>
            <a:ext cx="365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50998" y="4828032"/>
            <a:ext cx="18896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05862" y="4828032"/>
            <a:ext cx="177997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Insight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697" y="4828032"/>
            <a:ext cx="365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406457" y="4828032"/>
            <a:ext cx="1889699" cy="6400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61321" y="4828032"/>
            <a:ext cx="177997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AI / Automation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96156" y="4828032"/>
            <a:ext cx="3657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661916" y="4828032"/>
            <a:ext cx="1889699" cy="640080"/>
          </a:xfrm>
          <a:prstGeom prst="roundRect">
            <a:avLst>
              <a:gd name="adj" fmla="val 8000"/>
            </a:avLst>
          </a:prstGeom>
          <a:solidFill>
            <a:srgbClr val="0B2A47"/>
          </a:solidFill>
          <a:ln w="15875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6780" y="4828032"/>
            <a:ext cx="177997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Human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623560"/>
            <a:ext cx="109115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17 Custom Objects · 40 Flows · 1 Trigger · 46 LWC · 5 Agentforce Agents · 6 Prompt Templates  (실측)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0E6E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0E6E77"/>
                </a:solidFill>
                <a:latin typeface="Pretendard"/>
                <a:ea typeface="Pretendard"/>
                <a:cs typeface="Pretendard"/>
              </a:rPr>
              <a:t>CHAPTER III · GLOBAL BEST PRACTICES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3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설계 원칙이 실제 업무 흐름으로 작동한다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35024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2468880"/>
            <a:ext cx="188969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2523744"/>
            <a:ext cx="1779971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Event / Fan Activity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3246120"/>
            <a:ext cx="177997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데이터 발생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9779" y="246888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95539" y="2468880"/>
            <a:ext cx="188969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50403" y="2523744"/>
            <a:ext cx="1779971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50403" y="3246120"/>
            <a:ext cx="177997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반복 자동화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5238" y="246888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50998" y="2468880"/>
            <a:ext cx="188969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05862" y="2523744"/>
            <a:ext cx="1779971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Recommendation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05862" y="3246120"/>
            <a:ext cx="177997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다음 행동 제안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697" y="246888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06457" y="2468880"/>
            <a:ext cx="1889699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D8DEE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321" y="2523744"/>
            <a:ext cx="1779971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Slack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61321" y="3246120"/>
            <a:ext cx="177997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담당자 전달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6156" y="2468880"/>
            <a:ext cx="36576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61916" y="2468880"/>
            <a:ext cx="1889699" cy="1143000"/>
          </a:xfrm>
          <a:prstGeom prst="roundRect">
            <a:avLst>
              <a:gd name="adj" fmla="val 8000"/>
            </a:avLst>
          </a:prstGeom>
          <a:solidFill>
            <a:srgbClr val="0B2A47"/>
          </a:solidFill>
          <a:ln w="15875">
            <a:solidFill>
              <a:srgbClr val="0B2A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16780" y="2523744"/>
            <a:ext cx="1779971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Manager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6780" y="3246120"/>
            <a:ext cx="1779971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사람이 판단·실행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20624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Salesforce Platform · Customer 360 · Flow · Agentforce · Slack  이 커넥터처럼 잇는다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800600"/>
            <a:ext cx="10911535" cy="1051560"/>
          </a:xfrm>
          <a:prstGeom prst="roundRect">
            <a:avLst>
              <a:gd name="adj" fmla="val 9000"/>
            </a:avLst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800600"/>
            <a:ext cx="9997135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자동화의 목적은 사람을 대체하는 것이 아니라,</a:t>
            </a:r>
          </a:p>
          <a:p>
            <a:pPr algn="ctr">
              <a:lnSpc>
                <a:spcPct val="130000"/>
              </a:lnSpc>
            </a:pPr>
            <a:r>
              <a:rPr sz="17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담당자가 판단하고 실행할 시간을 확보하는 것.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2336"/>
            <a:ext cx="128016" cy="128016"/>
          </a:xfrm>
          <a:prstGeom prst="rect">
            <a:avLst/>
          </a:prstGeom>
          <a:solidFill>
            <a:srgbClr val="0B2A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7824" y="329184"/>
            <a:ext cx="8229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1" i="0" spc="22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CHAPTER IV ·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8368"/>
            <a:ext cx="10911535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33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우리가 만든 것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40080" y="1335024"/>
            <a:ext cx="10911535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640080" y="1965960"/>
            <a:ext cx="330189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3018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4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FAN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팬을 이해하다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67535" y="3657600"/>
            <a:ext cx="1046988" cy="36576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48456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Fan 360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6911" y="4114800"/>
            <a:ext cx="1888236" cy="36576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05656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Personalization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4400" y="5074920"/>
            <a:ext cx="2753258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40080" y="5230368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B85E12"/>
                </a:solidFill>
                <a:latin typeface="Pretendard"/>
                <a:ea typeface="Pretendard"/>
                <a:cs typeface="Pretendard"/>
              </a:rPr>
              <a:t>Fan Lifetime Value 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41978" y="1965960"/>
            <a:ext cx="502920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4898" y="1965960"/>
            <a:ext cx="330189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44898" y="2331720"/>
            <a:ext cx="33018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4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INSIGHT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44898" y="3063240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기회를 발견하다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62041" y="3657600"/>
            <a:ext cx="1467612" cy="36576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44898" y="3648456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Fan Insight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99151" y="4114800"/>
            <a:ext cx="1993392" cy="36576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44898" y="4105656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Partner Matching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719218" y="5074920"/>
            <a:ext cx="2753258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444898" y="5230368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B85E12"/>
                </a:solidFill>
                <a:latin typeface="Pretendard"/>
                <a:ea typeface="Pretendard"/>
                <a:cs typeface="Pretendard"/>
              </a:rPr>
              <a:t>Personalized Fan Experience 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46796" y="1965960"/>
            <a:ext cx="502920" cy="3657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20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49716" y="1965960"/>
            <a:ext cx="3301898" cy="3657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AD3C7"/>
            </a:solidFill>
          </a:ln>
          <a:effectLst/>
          <a:effectLst>
            <a:outerShdw blurRad="90000" dist="40000" dir="5400000" rotWithShape="0">
              <a:srgbClr val="0B2A47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9716" y="2331720"/>
            <a:ext cx="330189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3400" b="1" i="0">
                <a:solidFill>
                  <a:srgbClr val="0B2A47"/>
                </a:solidFill>
                <a:latin typeface="Pretendard"/>
                <a:ea typeface="Pretendard"/>
                <a:cs typeface="Pretendard"/>
              </a:rPr>
              <a:t>REVENUE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9716" y="3063240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00" b="0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매출로 연결하다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51392" y="3657600"/>
            <a:ext cx="2098548" cy="36576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9716" y="3648456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Sponsorship Sales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66860" y="4114800"/>
            <a:ext cx="1467612" cy="365760"/>
          </a:xfrm>
          <a:prstGeom prst="roundRect">
            <a:avLst>
              <a:gd name="adj" fmla="val 50000"/>
            </a:avLst>
          </a:prstGeom>
          <a:solidFill>
            <a:srgbClr val="F5F1EA"/>
          </a:solidFill>
          <a:ln w="12700">
            <a:solidFill>
              <a:srgbClr val="DAD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49716" y="4105656"/>
            <a:ext cx="33018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100" b="1" i="0">
                <a:solidFill>
                  <a:srgbClr val="1E2732"/>
                </a:solidFill>
                <a:latin typeface="Pretendard"/>
                <a:ea typeface="Pretendard"/>
                <a:cs typeface="Pretendard"/>
              </a:rPr>
              <a:t>Opportunity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524036" y="5074920"/>
            <a:ext cx="2753259" cy="0"/>
          </a:xfrm>
          <a:prstGeom prst="line">
            <a:avLst/>
          </a:prstGeom>
          <a:ln w="12700">
            <a:solidFill>
              <a:srgbClr val="DAD3C7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49716" y="5230368"/>
            <a:ext cx="330189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350" b="1" i="0">
                <a:solidFill>
                  <a:srgbClr val="B85E12"/>
                </a:solidFill>
                <a:latin typeface="Pretendard"/>
                <a:ea typeface="Pretendard"/>
                <a:cs typeface="Pretendard"/>
              </a:rPr>
              <a:t>Sponsorship Revenue  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5806440"/>
            <a:ext cx="1091153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FAN  →  INSIGHT  →  REVENUE — 하나의 흐름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2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77C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59" y="5029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80">
                <a:solidFill>
                  <a:srgbClr val="9DB0C4"/>
                </a:solidFill>
                <a:latin typeface="Pretendard"/>
                <a:ea typeface="Pretendard"/>
                <a:cs typeface="Pretendard"/>
              </a:rPr>
              <a:t>NOW · 현재 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59" y="868680"/>
            <a:ext cx="2362123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EC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868680"/>
            <a:ext cx="22523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C4E7E"/>
                </a:solidFill>
                <a:latin typeface="Pretendard"/>
                <a:ea typeface="Pretendard"/>
                <a:cs typeface="Pretendard"/>
              </a:rPr>
              <a:t>Fan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85083" y="868680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50843" y="868680"/>
            <a:ext cx="2362123" cy="566928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 w="15875">
            <a:solidFill>
              <a:srgbClr val="AECB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5707" y="868680"/>
            <a:ext cx="22523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C4E7E"/>
                </a:solidFill>
                <a:latin typeface="Pretendard"/>
                <a:ea typeface="Pretendard"/>
                <a:cs typeface="Pretendard"/>
              </a:rPr>
              <a:t>Insight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2967" y="868680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727" y="868680"/>
            <a:ext cx="2362123" cy="566928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5875">
            <a:solidFill>
              <a:srgbClr val="AA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33591" y="868680"/>
            <a:ext cx="22523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55E41"/>
                </a:solidFill>
                <a:latin typeface="Pretendard"/>
                <a:ea typeface="Pretendard"/>
                <a:cs typeface="Pretendard"/>
              </a:rPr>
              <a:t>Partner Matching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0851" y="868680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06611" y="868680"/>
            <a:ext cx="2362123" cy="566928"/>
          </a:xfrm>
          <a:prstGeom prst="roundRect">
            <a:avLst>
              <a:gd name="adj" fmla="val 8000"/>
            </a:avLst>
          </a:prstGeom>
          <a:solidFill>
            <a:srgbClr val="E7F2EC"/>
          </a:solidFill>
          <a:ln w="15875">
            <a:solidFill>
              <a:srgbClr val="AAD4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475" y="868680"/>
            <a:ext cx="22523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155E41"/>
                </a:solidFill>
                <a:latin typeface="Pretendard"/>
                <a:ea typeface="Pretendard"/>
                <a:cs typeface="Pretendard"/>
              </a:rPr>
              <a:t>Sponsorship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173736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 i="0" spc="180">
                <a:solidFill>
                  <a:srgbClr val="D6A6A3"/>
                </a:solidFill>
                <a:latin typeface="Pretendard"/>
                <a:ea typeface="Pretendard"/>
                <a:cs typeface="Pretendard"/>
              </a:rPr>
              <a:t>FUTURE SCOPE · 미구현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59" y="2103120"/>
            <a:ext cx="2362123" cy="566928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4C6C8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2103120"/>
            <a:ext cx="22523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94A7BC"/>
                </a:solidFill>
                <a:latin typeface="Pretendard"/>
                <a:ea typeface="Pretendard"/>
                <a:cs typeface="Pretendard"/>
              </a:rPr>
              <a:t>Real-time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85083" y="2103120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50843" y="2103120"/>
            <a:ext cx="2362123" cy="566928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4C6C8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05707" y="2103120"/>
            <a:ext cx="22523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94A7BC"/>
                </a:solidFill>
                <a:latin typeface="Pretendard"/>
                <a:ea typeface="Pretendard"/>
                <a:cs typeface="Pretendard"/>
              </a:rPr>
              <a:t>AI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12967" y="2103120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2103120"/>
            <a:ext cx="2362123" cy="566928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4C6C8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3591" y="2103120"/>
            <a:ext cx="22523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94A7BC"/>
                </a:solidFill>
                <a:latin typeface="Pretendard"/>
                <a:ea typeface="Pretendard"/>
                <a:cs typeface="Pretendard"/>
              </a:rPr>
              <a:t>Autonomous 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0851" y="2103120"/>
            <a:ext cx="36576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</a:pPr>
            <a:r>
              <a:rPr sz="1800" b="1" i="0">
                <a:solidFill>
                  <a:srgbClr val="6B7787"/>
                </a:solidFill>
                <a:latin typeface="Pretendard"/>
                <a:ea typeface="Pretendard"/>
                <a:cs typeface="Pretendard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06611" y="2103120"/>
            <a:ext cx="2362123" cy="566928"/>
          </a:xfrm>
          <a:prstGeom prst="roundRect">
            <a:avLst>
              <a:gd name="adj" fmla="val 8000"/>
            </a:avLst>
          </a:prstGeom>
          <a:noFill/>
          <a:ln w="15875">
            <a:solidFill>
              <a:srgbClr val="4C6C8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61475" y="2103120"/>
            <a:ext cx="2252395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250" b="1" i="0">
                <a:solidFill>
                  <a:srgbClr val="94A7BC"/>
                </a:solidFill>
                <a:latin typeface="Pretendard"/>
                <a:ea typeface="Pretendard"/>
                <a:cs typeface="Pretendard"/>
              </a:rPr>
              <a:t>Continuous Revenue Growth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" y="3429000"/>
            <a:ext cx="7955279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33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팬을 이해하고, 팬덤의 가치를 발견하고,</a:t>
            </a:r>
          </a:p>
          <a:p>
            <a:pPr algn="l">
              <a:lnSpc>
                <a:spcPct val="130000"/>
              </a:lnSpc>
            </a:pPr>
            <a:r>
              <a:rPr sz="3300" b="1" i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 가치를 매출로 연결합니다.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5440680"/>
            <a:ext cx="7772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E77C25"/>
                </a:solidFill>
                <a:latin typeface="Pretendard"/>
                <a:ea typeface="Pretendard"/>
                <a:cs typeface="Pretendard"/>
              </a:rPr>
              <a:t>CLOUD ALPACAS</a:t>
            </a:r>
            <a:r>
              <a:rPr sz="1500" b="0" i="0">
                <a:solidFill>
                  <a:srgbClr val="B9C6D6"/>
                </a:solidFill>
                <a:latin typeface="Pretendard"/>
                <a:ea typeface="Pretendard"/>
                <a:cs typeface="Pretendard"/>
              </a:rPr>
              <a:t>      ·      Sustainable Revenue Engine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82735" y="3566160"/>
            <a:ext cx="2468880" cy="1691640"/>
          </a:xfrm>
          <a:prstGeom prst="roundRect">
            <a:avLst>
              <a:gd name="adj" fmla="val 3000"/>
            </a:avLst>
          </a:prstGeom>
          <a:solidFill>
            <a:srgbClr val="FBFAF8"/>
          </a:solidFill>
          <a:ln w="15875">
            <a:solidFill>
              <a:srgbClr val="DAD3C7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74175" y="3566160"/>
            <a:ext cx="2286000" cy="1691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1" i="0">
                <a:solidFill>
                  <a:srgbClr val="6B7686"/>
                </a:solidFill>
                <a:latin typeface="Pretendard"/>
                <a:ea typeface="Pretendard"/>
                <a:cs typeface="Pretendard"/>
              </a:rPr>
              <a:t>[ ALPACA + LOGO 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38251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850" b="0" i="0" spc="100">
                <a:solidFill>
                  <a:srgbClr val="7E92A6"/>
                </a:solidFill>
                <a:latin typeface="Pretendard"/>
                <a:ea typeface="Pretendard"/>
                <a:cs typeface="Pretendard"/>
              </a:rPr>
              <a:t>CLOUD ALPACAS   ·   Final Presentation (Draft)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88575" y="638251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</a:pPr>
            <a:r>
              <a:rPr sz="950" b="1" i="0">
                <a:solidFill>
                  <a:srgbClr val="7E92A6"/>
                </a:solidFill>
                <a:latin typeface="Pretendard"/>
                <a:ea typeface="Pretendard"/>
                <a:cs typeface="Pretendard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